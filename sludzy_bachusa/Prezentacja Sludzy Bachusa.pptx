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modernComment_10F_91F10457.xml" ContentType="application/vnd.ms-powerpoint.comments+xml"/>
  <Override PartName="/ppt/comments/modernComment_11C_77B6537E.xml" ContentType="application/vnd.ms-powerpoint.comments+xml"/>
  <Override PartName="/ppt/comments/modernComment_118_33579991.xml" ContentType="application/vnd.ms-powerpoint.comments+xml"/>
  <Override PartName="/ppt/comments/modernComment_114_BFF1A444.xml" ContentType="application/vnd.ms-powerpoint.comments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25" r:id="rId1"/>
  </p:sldMasterIdLst>
  <p:sldIdLst>
    <p:sldId id="256" r:id="rId2"/>
    <p:sldId id="267" r:id="rId3"/>
    <p:sldId id="268" r:id="rId4"/>
    <p:sldId id="271" r:id="rId5"/>
    <p:sldId id="270" r:id="rId6"/>
    <p:sldId id="284" r:id="rId7"/>
    <p:sldId id="286" r:id="rId8"/>
    <p:sldId id="273" r:id="rId9"/>
    <p:sldId id="258" r:id="rId10"/>
    <p:sldId id="259" r:id="rId11"/>
    <p:sldId id="261" r:id="rId12"/>
    <p:sldId id="285" r:id="rId13"/>
    <p:sldId id="281" r:id="rId14"/>
    <p:sldId id="280" r:id="rId15"/>
    <p:sldId id="276" r:id="rId16"/>
    <p:sldId id="282" r:id="rId17"/>
    <p:sldId id="283" r:id="rId18"/>
  </p:sldIdLst>
  <p:sldSz cx="12192000" cy="6858000"/>
  <p:notesSz cx="6858000" cy="9144000"/>
  <p:defaultTextStyle>
    <a:defPPr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6DFECE0-391B-3AA7-426F-AEFE5FB951D5}" name="Gość" initials="Go" userId="Gość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DD031B-ACCC-7095-A1AC-4F41549D48A4}" v="145" dt="2025-10-11T18:58:32.786"/>
    <p1510:client id="{372BD63D-593E-AC82-6015-DC7F38EAEBA8}" v="3" dt="2025-10-11T17:24:14.672"/>
    <p1510:client id="{ACF6BC14-4A37-C579-9D2E-38FF0DC8B246}" v="246" dt="2025-10-11T18:06:12.42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 pośredni 2 — Ak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8/10/relationships/authors" Target="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omments/modernComment_10F_91F1045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BD8DCD25-C8D4-4FFA-BDC7-7C86316C7909}" authorId="{A6DFECE0-391B-3AA7-426F-AEFE5FB951D5}" created="2025-10-08T12:09:24.113">
    <pc:sldMkLst xmlns:pc="http://schemas.microsoft.com/office/powerpoint/2013/main/command">
      <pc:docMk/>
      <pc:sldMk cId="2448491607" sldId="271"/>
    </pc:sldMkLst>
    <p188:txBody>
      <a:bodyPr/>
      <a:lstStyle/>
      <a:p>
        <a:r>
          <a:rPr lang="pl-PL"/>
          <a:t>Nasza misja? Połączyć boską inspirację z nauką. Tak jak dawniej Bachus inspirował ludzi do odkrywania smaku życia, my chcemy odkryć, co naprawdę kryje się w kieliszku wina — ale z pomocą danych, modeli i algorytmów. Pragniemy przewidzieć jakość wina lepiej niż sam bóg, udowadniając, że współczesna technologia potrafi uchwycić coś z magii, która towarzyszy winu od tysięcy lat.</a:t>
        </a:r>
      </a:p>
    </p188:txBody>
  </p188:cm>
</p188:cmLst>
</file>

<file path=ppt/comments/modernComment_11C_77B6537E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77B78E07-488B-48CB-844A-EB735BABD2DA}" authorId="{A6DFECE0-391B-3AA7-426F-AEFE5FB951D5}" created="2025-10-05T17:27:37.720">
    <pc:sldMkLst xmlns:pc="http://schemas.microsoft.com/office/powerpoint/2013/main/command">
      <pc:docMk/>
      <pc:sldMk cId="2008437630" sldId="284"/>
    </pc:sldMkLst>
    <p188:txBody>
      <a:bodyPr/>
      <a:lstStyle/>
      <a:p>
        <a:r>
          <a:rPr lang="pl-PL"/>
          <a:t>1. Narzędzie do kontroli jakości wina (B2B)
Wasz model może służyć producentom win do:
szybkiej, automatycznej oceny jakości partii wina bez potrzeby panelu degustacyjnego,
porównywania receptur i optymalizacji procesu produkcji (np. „czy zmniejszenie kwasowości poprawi ocenę?”),
monitorowania stabilności produktu w czasie.
💸 Potencjał: licencja/subskrypcja dla winnic i laboratoriów → np. miesięczna opłata za dostęp do systemu.
📊 2. Aplikacja edukacyjna / analityczna dla enologów i studentów
Wasza apka może być interaktywnym narzędziem naukowym, które:
uczy, jak różne cechy chemiczne wpływają na ocenę wina,
pokazuje interpretację wyników (SHAP!) — czyli “dlaczego to wino dostało taką ocenę”,
pozwala eksperymentować z wartościami cech i obserwować wpływ na jakość.
💸 Potencjał: model freemium / subskrypcja edukacyjna, np. dla uczelni kierunków enologicznych lub chemicznych.
🧠 3. Asystent AI dla winiarzy
Dzięki SHAP-om macie AI-doradcę, który może podpowiadać:
„Twoje wino ma zbyt wysoką kwasowość — jeśli ją obniżysz, jakość może wzrosnąć o 0.7 punktu”.
💸 Potencjał: sprzedaż jako moduł doradczy lub konsultacyjny (np. integracja z systemem laboratoryjnym).
🍾 4. Platforma do benchmarkingu win
Można zbudować bazę danych win z ich parametrami i ocenami, i umożliwić:
porównywanie własnych win z innymi (np. „Twoje wino jest w top 15% win o podobnym profilu chemicznym”),
rekomendacje zmian w składzie.
💸 Potencjał: płatny dostęp do analityki i rankingu, raporty premium.</a:t>
        </a:r>
      </a:p>
    </p188:txBody>
  </p188:cm>
</p188:cmLst>
</file>

<file path=ppt/comments/modernComment_114_BFF1A44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A40AD832-ED39-446D-8E84-7A853CD80052}" authorId="{A6DFECE0-391B-3AA7-426F-AEFE5FB951D5}" created="2025-10-05T17:00:21.464">
    <pc:sldMkLst xmlns:pc="http://schemas.microsoft.com/office/powerpoint/2013/main/command">
      <pc:docMk/>
      <pc:sldMk cId="3220284484" sldId="276"/>
    </pc:sldMkLst>
    <p188:txBody>
      <a:bodyPr/>
      <a:lstStyle/>
      <a:p>
        <a:r>
          <a:rPr lang="pl-PL"/>
          <a:t>Twoje różnice wynikają z tego, że:
Korelacja to prosty, liniowy związek między pojedynczą cechą a etykietą (tu: jakością).
Liczysz ją dla każdej cechy osobno, zakładając, że relacja jest liniowa: „im więcej X, tym więcej Y”.
Nie bierze pod uwagę interakcji między cechami ani efektów nieliniowych.
Ważność cech w XGBoost (feature importance) to zupełnie inna historia:
Model buduje drzewa decyzyjne, które mogą uwzględniać interakcje między cechami (np. „jeśli alkohol &gt; 10 i kwasowość &lt; 0.3, to…”).
XGBoost patrzy, które cechy najbardziej poprawiają dokładność predykcji — niekoniecznie te, które mają najwyższą korelację z wynikiem.
Cechy, które samodzielnie mają małą korelację, ale pomagają rozdzielać klasy w kombinacji z innymi, mogą być bardzo ważne.</a:t>
        </a:r>
      </a:p>
    </p188:txBody>
  </p188:cm>
</p188:cmLst>
</file>

<file path=ppt/comments/modernComment_118_33579991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0CF2971-435C-4CC4-B5F3-5F4B8EC857EB}" authorId="{A6DFECE0-391B-3AA7-426F-AEFE5FB951D5}" created="2025-10-05T16:59:58.073">
    <pc:sldMkLst xmlns:pc="http://schemas.microsoft.com/office/powerpoint/2013/main/command">
      <pc:docMk/>
      <pc:sldMk cId="861378961" sldId="280"/>
    </pc:sldMkLst>
    <p188:txBody>
      <a:bodyPr/>
      <a:lstStyle/>
      <a:p>
        <a:r>
          <a:rPr lang="pl-PL"/>
          <a:t>Twoje różnice wynikają z tego, że:
Korelacja to prosty, liniowy związek między pojedynczą cechą a etykietą (tu: jakością).
Liczysz ją dla każdej cechy osobno, zakładając, że relacja jest liniowa: „im więcej X, tym więcej Y”.
Nie bierze pod uwagę interakcji między cechami ani efektów nieliniowych.
Ważność cech w XGBoost (feature importance) to zupełnie inna historia:
Model buduje drzewa decyzyjne, które mogą uwzględniać interakcje między cechami (np. „jeśli alkohol &gt; 10 i kwasowość &lt; 0.3, to…”).
XGBoost patrzy, które cechy najbardziej poprawiają dokładność predykcji — niekoniecznie te, które mają najwyższą korelację z wynikiem.
Cechy, które samodzielnie mają małą korelację, ale pomagają rozdzielać klasy w kombinacji z innymi, mogą być bardzo ważne.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4406-9FC5-ACFE-893D-D4EADEB1A89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08388" y="745440"/>
            <a:ext cx="8132227" cy="3559859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0AF19C-C14B-F137-2DE9-1992459045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7308" y="4669316"/>
            <a:ext cx="8132227" cy="135048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C6A999-B8D4-1774-9F1B-9F9FE1B3B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E3B7B-C7B5-42CF-90CF-67B3D21B2314}" type="datetime1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165D5D-2AE2-6F91-D1EB-6DD8FC3CE6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Słudzy Bachusa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0029E4-3A4E-970A-17A8-1E17D37D1F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586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95D22A-1F6D-0DE5-E04A-DC466353DA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4ADD6F-7C93-3CD3-AC8D-28A78787CB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706E74-14FC-84D9-4B41-7D9FB0D573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96519-E62D-4F8C-AE1E-36928EC7D15C}" type="datetime1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35A7DC-6292-6181-949E-F8BC3FA11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Słudzy Bachusa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0F5C6-EADC-E072-B19B-49BB11DF0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75591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B2054-1AE7-534F-0CFE-1F0628A09F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0138" y="2243708"/>
            <a:ext cx="9156288" cy="3776091"/>
          </a:xfrm>
        </p:spPr>
        <p:txBody>
          <a:bodyPr anchor="b">
            <a:normAutofit/>
          </a:bodyPr>
          <a:lstStyle>
            <a:lvl1pPr>
              <a:defRPr sz="6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88EC2A-45C7-131C-0F4A-56E62EB029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40137" y="838201"/>
            <a:ext cx="9156289" cy="1405508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75A323-2679-E978-8856-2FEBE8F5A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77AEB6-FCE1-4CD5-923B-84E54F1460D5}" type="datetime1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971DC2-625E-0477-BF8C-F3CDDCE4B1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Słudzy Bachusa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F1A644-D449-E464-C2DF-F045A51899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7183469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B12719-44A3-3EE8-D757-F0E0F9632A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3197" y="750627"/>
            <a:ext cx="10846556" cy="130415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440DC2-69F2-A056-508C-F5138E71FC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56961" y="2075250"/>
            <a:ext cx="4571288" cy="410149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A2243E-0673-54F2-5B38-DF5D2C7367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79560" y="2075250"/>
            <a:ext cx="4770191" cy="4101492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946B7D-7BAF-8DE9-FB5A-282908B031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6374C2F-71A1-43C9-B2F6-A4FAC8157F1A}" type="datetime1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AF99017-BDD7-56C7-43AE-4B86AC781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Słudzy Bachusa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6E7D63-14BF-E333-B350-75DA58E28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276857"/>
      </p:ext>
    </p:extLst>
  </p:cSld>
  <p:clrMapOvr>
    <a:masterClrMapping/>
  </p:clrMapOvr>
  <p:hf hdr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8C7F72-3970-859F-C268-E9940EF2D0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5649" y="743803"/>
            <a:ext cx="10764271" cy="1025362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B37CC6-89B8-3CF3-6973-1B5B71782F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56961" y="1769166"/>
            <a:ext cx="4571287" cy="815008"/>
          </a:xfrm>
        </p:spPr>
        <p:txBody>
          <a:bodyPr anchor="b">
            <a:noAutofit/>
          </a:bodyPr>
          <a:lstStyle>
            <a:lvl1pPr marL="0" indent="0">
              <a:buNone/>
              <a:defRPr sz="2000" b="0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650EB0-E35B-DA3D-B6A1-2422B01C60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56961" y="2678597"/>
            <a:ext cx="4571287" cy="350670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7A15D0-F178-1506-0E61-C8FFDF9BD6B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498633" y="1769166"/>
            <a:ext cx="4571287" cy="815008"/>
          </a:xfrm>
        </p:spPr>
        <p:txBody>
          <a:bodyPr anchor="b">
            <a:noAutofit/>
          </a:bodyPr>
          <a:lstStyle>
            <a:lvl1pPr marL="0" indent="0">
              <a:buNone/>
              <a:defRPr sz="2000" b="0" cap="all" spc="1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CB421-A65A-A7DC-40A7-D8B76F9C3A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498633" y="2678596"/>
            <a:ext cx="4571287" cy="350670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7AF5675-5329-D2DB-FAFF-700D076CA8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D631DCC-9916-4BB7-A2E9-25EC84C740A7}" type="datetime1">
              <a:rPr lang="en-US" smtClean="0"/>
              <a:t>10/11/2025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1392A97-07D9-5E5C-2A31-3B7D764CE1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Słudzy Bachusa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E626143-8FEE-0ABD-25C7-C34AF6568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235808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826EFE-D86C-B076-D4D1-FAD1883E08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87" y="757766"/>
            <a:ext cx="7240293" cy="3547534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23F3B23-C631-4B62-3211-30222ABE1C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59146A-335D-4B7F-86AE-5D483B1F631C}" type="datetime1">
              <a:rPr lang="en-US" smtClean="0"/>
              <a:t>10/11/2025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89A1FB-EA0D-F6A3-A4EB-001AA082A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Słudzy Bachusa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D671B7-A902-587D-89D0-ECFB738FD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62958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9A27D49-E5B4-0E67-FCFC-62A04E7056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71D8EC-8E17-4CE6-99C2-C22488572868}" type="datetime1">
              <a:rPr lang="en-US" smtClean="0"/>
              <a:t>10/11/2025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0E4B02-DD32-C63F-6FEE-BC36E2EFD0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Słudzy Bachusa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25FA8B-18F7-7DDC-74E0-B1C7139E7B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9796749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12D42A-8FC3-F6BE-4CF7-1490DE4FD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7395" y="766636"/>
            <a:ext cx="3951745" cy="1510628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AA2BAA-1CCB-696D-D506-5E1747080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400" y="702452"/>
            <a:ext cx="6249988" cy="5317347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0B3C3E7-B970-EF6C-A6D3-6CB81C9487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3953" y="2277264"/>
            <a:ext cx="3752747" cy="374253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6F32464-D130-7DA0-050D-B444566B1A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750ABA-DFFA-4B13-BB77-624D9164A38B}" type="datetime1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FC2B3B4-209E-187A-6F86-2F2EAD9F7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Słudzy Bachusa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36A2A86-6CB1-F027-66AC-8EBFA9D064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122459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568F49-A418-C21F-25DC-E4C2E1716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8972" y="765850"/>
            <a:ext cx="3995693" cy="1774778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378CDE2-0C1B-D3BE-F399-98D983EF453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05400" y="838200"/>
            <a:ext cx="6249988" cy="51815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786322-CA2D-A634-C10E-4F22BCE48B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0137" y="2552699"/>
            <a:ext cx="3736563" cy="3467099"/>
          </a:xfrm>
        </p:spPr>
        <p:txBody>
          <a:bodyPr anchor="b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AD0DD6-F55F-4437-DEC5-FA6028509A2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0137" y="63202"/>
            <a:ext cx="2743200" cy="318221"/>
          </a:xfrm>
        </p:spPr>
        <p:txBody>
          <a:bodyPr/>
          <a:lstStyle/>
          <a:p>
            <a:fld id="{3220A08F-2B1D-4498-A043-7C299B1C2561}" type="datetime1">
              <a:rPr lang="en-US" smtClean="0"/>
              <a:t>10/11/2025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5B46D7-EE7C-E399-6A6B-18237228F6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Słudzy Bachusa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211B808-3207-D755-3B0B-E1D8814B2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6628765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FCDEBC-9F49-FA9D-D13C-DB380A628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87" y="757451"/>
            <a:ext cx="10875953" cy="1214650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00CB13-23E6-D711-450C-A85A0CB995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335467" y="1972101"/>
            <a:ext cx="10848873" cy="404769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89BB7B-5C14-76DB-FEA8-3DBC09A965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D9902-F134-45BD-ABD2-80C28059B090}" type="datetime1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BC13CC-29B3-9FDC-C746-D5D65CC2A5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Słudzy Bachusa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B52A12-895F-E9BE-5289-4E0411BD3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8861826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A17614-2270-537D-8B09-6CB65016AD8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359496" y="755981"/>
            <a:ext cx="2277552" cy="5338369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0BC98B5-885C-CBB1-A858-76F65F7D28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199" y="755981"/>
            <a:ext cx="8230086" cy="533836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E5DAFE-6A83-FB7D-72DF-232EFE204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04DB0-379A-41B7-9B29-7F42F0D571D5}" type="datetime1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B41CCF-A3CD-506E-3AAE-CAEFA8C1BB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Słudzy Bachusa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20DD9D-25C2-0EDF-A6F4-71946D57B3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646245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BFF45E2-9197-4E34-029A-725ADAC0C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8387" y="620202"/>
            <a:ext cx="9956747" cy="143878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8CC19E-63FE-1D76-2550-01FD9A6D9A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35467" y="2306781"/>
            <a:ext cx="9956747" cy="38701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DFA067-55BA-33CD-E6F2-B24B2D5DE8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40137" y="63202"/>
            <a:ext cx="2743200" cy="31822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567E9B64-DC09-41C8-9DE3-DA74AF8D2F97}" type="datetime1">
              <a:rPr lang="en-US" smtClean="0"/>
              <a:t>10/11/2025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65EAE2-7EF5-FFAA-CD74-AA63C671197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344016" y="6424761"/>
            <a:ext cx="40599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 b="0" cap="all" spc="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Słudzy Bachusa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09DC1A-2539-3AE9-11EA-B87D22E62C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03951" y="6425816"/>
            <a:ext cx="42976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6E91CC32-6A6B-4E2E-BBA1-6864F305DA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70403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0" r:id="rId1"/>
    <p:sldLayoutId id="2147483721" r:id="rId2"/>
    <p:sldLayoutId id="2147483722" r:id="rId3"/>
    <p:sldLayoutId id="2147483723" r:id="rId4"/>
    <p:sldLayoutId id="2147483724" r:id="rId5"/>
    <p:sldLayoutId id="2147483718" r:id="rId6"/>
    <p:sldLayoutId id="2147483714" r:id="rId7"/>
    <p:sldLayoutId id="2147483715" r:id="rId8"/>
    <p:sldLayoutId id="2147483716" r:id="rId9"/>
    <p:sldLayoutId id="2147483717" r:id="rId10"/>
    <p:sldLayoutId id="214748371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Neue Haas Grotesk Text Pro" panose="020B0504020202020204" pitchFamily="34" charset="0"/>
        <a:buChar char="+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868680" indent="-228600" algn="l" defTabSz="914400" rtl="0" eaLnBrk="1" latinLnBrk="0" hangingPunct="1">
        <a:lnSpc>
          <a:spcPct val="120000"/>
        </a:lnSpc>
        <a:spcBef>
          <a:spcPts val="500"/>
        </a:spcBef>
        <a:buFont typeface="Neue Haas Grotesk Text Pro" panose="020B0504020202020204" pitchFamily="34" charset="0"/>
        <a:buChar char="+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09728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svg"/><Relationship Id="rId5" Type="http://schemas.openxmlformats.org/officeDocument/2006/relationships/image" Target="../media/image6.png"/><Relationship Id="rId4" Type="http://schemas.openxmlformats.org/officeDocument/2006/relationships/image" Target="../media/image5.sv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microsoft.com/office/2018/10/relationships/comments" Target="../comments/modernComment_10F_91F10457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5.svg"/><Relationship Id="rId7" Type="http://schemas.openxmlformats.org/officeDocument/2006/relationships/image" Target="../media/image13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2.png"/><Relationship Id="rId5" Type="http://schemas.openxmlformats.org/officeDocument/2006/relationships/image" Target="../media/image11.svg"/><Relationship Id="rId4" Type="http://schemas.openxmlformats.org/officeDocument/2006/relationships/image" Target="../media/image10.png"/><Relationship Id="rId9" Type="http://schemas.openxmlformats.org/officeDocument/2006/relationships/image" Target="../media/image15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microsoft.com/office/2018/10/relationships/comments" Target="../comments/modernComment_11C_77B6537E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microsoft.com/office/2018/10/relationships/comments" Target="../comments/modernComment_118_3357999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microsoft.com/office/2018/10/relationships/comments" Target="../comments/modernComment_114_BFF1A44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://127.0.0.1:8080/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9" name="Rectangle 12">
            <a:extLst>
              <a:ext uri="{FF2B5EF4-FFF2-40B4-BE49-F238E27FC236}">
                <a16:creationId xmlns:a16="http://schemas.microsoft.com/office/drawing/2014/main" id="{963F6376-C8BE-899E-B3E6-E16BF429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/>
          <p:cNvSpPr>
            <a:spLocks noGrp="1"/>
          </p:cNvSpPr>
          <p:nvPr>
            <p:ph type="ctrTitle"/>
          </p:nvPr>
        </p:nvSpPr>
        <p:spPr>
          <a:xfrm>
            <a:off x="142310" y="532972"/>
            <a:ext cx="7713214" cy="2897982"/>
          </a:xfrm>
        </p:spPr>
        <p:txBody>
          <a:bodyPr anchor="b">
            <a:normAutofit/>
          </a:bodyPr>
          <a:lstStyle/>
          <a:p>
            <a:r>
              <a:rPr lang="pl-PL" sz="2800"/>
              <a:t>Aplikacja do przewidywania jakości win</a:t>
            </a:r>
            <a:br>
              <a:rPr lang="pl-PL" sz="2000"/>
            </a:br>
            <a:endParaRPr lang="pl-PL" sz="2000"/>
          </a:p>
        </p:txBody>
      </p:sp>
      <p:sp>
        <p:nvSpPr>
          <p:cNvPr id="3" name="Podtytuł 2"/>
          <p:cNvSpPr>
            <a:spLocks noGrp="1"/>
          </p:cNvSpPr>
          <p:nvPr>
            <p:ph type="subTitle" idx="1"/>
          </p:nvPr>
        </p:nvSpPr>
        <p:spPr>
          <a:xfrm>
            <a:off x="310829" y="838200"/>
            <a:ext cx="6597080" cy="1714500"/>
          </a:xfrm>
        </p:spPr>
        <p:txBody>
          <a:bodyPr anchor="t">
            <a:noAutofit/>
          </a:bodyPr>
          <a:lstStyle/>
          <a:p>
            <a:r>
              <a:rPr lang="pl-PL" sz="6000" b="1"/>
              <a:t>Słudzy Bachusa</a:t>
            </a:r>
          </a:p>
        </p:txBody>
      </p:sp>
      <p:pic>
        <p:nvPicPr>
          <p:cNvPr id="6" name="Obraz 5" descr="Obraz zawierający obraz, Ludzka twarz, rysowanie, osoba&#10;&#10;Zawartość wygenerowana przez AI może być niepoprawna.">
            <a:extLst>
              <a:ext uri="{FF2B5EF4-FFF2-40B4-BE49-F238E27FC236}">
                <a16:creationId xmlns:a16="http://schemas.microsoft.com/office/drawing/2014/main" id="{ABD783F7-C1C9-3BE4-DD11-6C4175BE82F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31" r="2633"/>
          <a:stretch>
            <a:fillRect/>
          </a:stretch>
        </p:blipFill>
        <p:spPr>
          <a:xfrm>
            <a:off x="7137140" y="10"/>
            <a:ext cx="5054861" cy="6857990"/>
          </a:xfrm>
          <a:custGeom>
            <a:avLst/>
            <a:gdLst/>
            <a:ahLst/>
            <a:cxnLst/>
            <a:rect l="l" t="t" r="r" b="b"/>
            <a:pathLst>
              <a:path w="5054861" h="6858000">
                <a:moveTo>
                  <a:pt x="677913" y="0"/>
                </a:moveTo>
                <a:lnTo>
                  <a:pt x="5054861" y="0"/>
                </a:lnTo>
                <a:lnTo>
                  <a:pt x="5054861" y="6858000"/>
                </a:lnTo>
                <a:lnTo>
                  <a:pt x="677913" y="6858000"/>
                </a:lnTo>
                <a:cubicBezTo>
                  <a:pt x="303512" y="6858000"/>
                  <a:pt x="0" y="6554488"/>
                  <a:pt x="0" y="6180087"/>
                </a:cubicBezTo>
                <a:lnTo>
                  <a:pt x="0" y="677913"/>
                </a:lnTo>
                <a:cubicBezTo>
                  <a:pt x="0" y="303512"/>
                  <a:pt x="303512" y="0"/>
                  <a:pt x="677913" y="0"/>
                </a:cubicBezTo>
                <a:close/>
              </a:path>
            </a:pathLst>
          </a:custGeom>
        </p:spPr>
      </p:pic>
      <p:sp>
        <p:nvSpPr>
          <p:cNvPr id="10" name="Tytuł 1">
            <a:extLst>
              <a:ext uri="{FF2B5EF4-FFF2-40B4-BE49-F238E27FC236}">
                <a16:creationId xmlns:a16="http://schemas.microsoft.com/office/drawing/2014/main" id="{7396C23D-F339-2B88-3A3E-3E510953382A}"/>
              </a:ext>
            </a:extLst>
          </p:cNvPr>
          <p:cNvSpPr txBox="1">
            <a:spLocks/>
          </p:cNvSpPr>
          <p:nvPr/>
        </p:nvSpPr>
        <p:spPr>
          <a:xfrm>
            <a:off x="411941" y="3684526"/>
            <a:ext cx="6394369" cy="289798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5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sz="2000"/>
              <a:t>Autorzy:</a:t>
            </a:r>
          </a:p>
          <a:p>
            <a:pPr marL="342900" indent="-342900">
              <a:buFont typeface="Calibri"/>
              <a:buChar char="-"/>
            </a:pPr>
            <a:r>
              <a:rPr lang="pl-PL" sz="2000"/>
              <a:t>Anna Jeziorska</a:t>
            </a:r>
          </a:p>
          <a:p>
            <a:pPr marL="342900" indent="-342900">
              <a:buFont typeface="Calibri"/>
              <a:buChar char="-"/>
            </a:pPr>
            <a:r>
              <a:rPr lang="pl-PL" sz="2000"/>
              <a:t>Julita Matusiak</a:t>
            </a:r>
          </a:p>
          <a:p>
            <a:pPr marL="342900" indent="-342900">
              <a:buFont typeface="Calibri"/>
              <a:buChar char="-"/>
            </a:pPr>
            <a:r>
              <a:rPr lang="pl-PL" sz="2000"/>
              <a:t>Paweł Maryńczak</a:t>
            </a:r>
          </a:p>
        </p:txBody>
      </p:sp>
      <p:pic>
        <p:nvPicPr>
          <p:cNvPr id="12" name="Obraz 11" descr="Obraz zawierający pojemnik, szkło/szklanka, wino, Kieliszek na wino&#10;&#10;Zawartość wygenerowana przez AI może być niepoprawna.">
            <a:extLst>
              <a:ext uri="{FF2B5EF4-FFF2-40B4-BE49-F238E27FC236}">
                <a16:creationId xmlns:a16="http://schemas.microsoft.com/office/drawing/2014/main" id="{3ACB0773-3D82-D23A-A206-A6457DA647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0131" y="3423382"/>
            <a:ext cx="1268047" cy="3332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03171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332F2A31-C129-2298-9973-26A0E0FAAE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5C348361-AB5C-6CA6-17B7-60C4F5764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005" y="514484"/>
            <a:ext cx="6136010" cy="1822687"/>
          </a:xfrm>
        </p:spPr>
        <p:txBody>
          <a:bodyPr anchor="t">
            <a:normAutofit/>
          </a:bodyPr>
          <a:lstStyle/>
          <a:p>
            <a:r>
              <a:rPr lang="pl-PL" sz="3600" baseline="0">
                <a:solidFill>
                  <a:srgbClr val="FFFFFF"/>
                </a:solidFill>
                <a:latin typeface="Neue Haas Grotesk Text Pro"/>
              </a:rPr>
              <a:t>📜</a:t>
            </a:r>
            <a:r>
              <a:rPr lang="pl-PL" sz="3600" b="1" baseline="0">
                <a:solidFill>
                  <a:srgbClr val="FFFFFF"/>
                </a:solidFill>
                <a:latin typeface="Neue Haas Grotesk Text Pro"/>
              </a:rPr>
              <a:t>Krótka historia wina</a:t>
            </a:r>
            <a:endParaRPr lang="pl-PL" sz="360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3A4CF9BC-8926-C857-2B84-F859383438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0137" y="63202"/>
            <a:ext cx="2743200" cy="318221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F996519-E62D-4F8C-AE1E-36928EC7D15C}" type="datetime1">
              <a:rPr lang="en-US" smtClean="0"/>
              <a:pPr>
                <a:spcAft>
                  <a:spcPts val="600"/>
                </a:spcAft>
              </a:pPr>
              <a:t>10/11/2025</a:t>
            </a:fld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E559AAB-3084-3138-A0F0-B415E713C9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0137" y="1231456"/>
            <a:ext cx="6361997" cy="5854610"/>
          </a:xfrm>
        </p:spPr>
        <p:txBody>
          <a:bodyPr vert="horz" lIns="91440" tIns="45720" rIns="91440" bIns="45720" rtlCol="0" anchor="b">
            <a:noAutofit/>
          </a:bodyPr>
          <a:lstStyle/>
          <a:p>
            <a:pPr>
              <a:lnSpc>
                <a:spcPct val="110000"/>
              </a:lnSpc>
            </a:pPr>
            <a:endParaRPr lang="pl-PL" b="1"/>
          </a:p>
          <a:p>
            <a:pPr>
              <a:lnSpc>
                <a:spcPct val="110000"/>
              </a:lnSpc>
            </a:pPr>
            <a:r>
              <a:rPr lang="pl-PL" sz="2000">
                <a:ea typeface="+mn-lt"/>
                <a:cs typeface="+mn-lt"/>
              </a:rPr>
              <a:t>🏺 Pierwsze ślady produkcji wina pochodzą sprzed </a:t>
            </a:r>
            <a:r>
              <a:rPr lang="pl-PL" sz="2000" b="1">
                <a:ea typeface="+mn-lt"/>
                <a:cs typeface="+mn-lt"/>
              </a:rPr>
              <a:t>około 6000 lat</a:t>
            </a:r>
            <a:r>
              <a:rPr lang="pl-PL" sz="2000">
                <a:ea typeface="+mn-lt"/>
                <a:cs typeface="+mn-lt"/>
              </a:rPr>
              <a:t> z terenów dzisiejszej Gruzji.</a:t>
            </a:r>
            <a:endParaRPr lang="pl-PL" sz="2000"/>
          </a:p>
          <a:p>
            <a:pPr>
              <a:lnSpc>
                <a:spcPct val="110000"/>
              </a:lnSpc>
            </a:pPr>
            <a:r>
              <a:rPr lang="pl-PL" sz="2000">
                <a:ea typeface="+mn-lt"/>
                <a:cs typeface="+mn-lt"/>
              </a:rPr>
              <a:t>       Grecy uważali wino za dar od bogów – pili je rozcieńczone wodą (bo ponoć „trzeźwość to cnota”).</a:t>
            </a:r>
            <a:endParaRPr lang="pl-PL" sz="2000"/>
          </a:p>
          <a:p>
            <a:pPr>
              <a:lnSpc>
                <a:spcPct val="110000"/>
              </a:lnSpc>
            </a:pPr>
            <a:r>
              <a:rPr lang="pl-PL" sz="2000">
                <a:ea typeface="+mn-lt"/>
                <a:cs typeface="+mn-lt"/>
              </a:rPr>
              <a:t>      Rzymianie rozwinęli kulturę picia wina, a Bachus stał się ich patronem.</a:t>
            </a:r>
            <a:endParaRPr lang="pl-PL" sz="2000"/>
          </a:p>
          <a:p>
            <a:pPr>
              <a:lnSpc>
                <a:spcPct val="110000"/>
              </a:lnSpc>
            </a:pPr>
            <a:r>
              <a:rPr lang="pl-PL" sz="2000">
                <a:ea typeface="+mn-lt"/>
                <a:cs typeface="+mn-lt"/>
              </a:rPr>
              <a:t>🍾 W średniowieczu wino ratowało życie – często było </a:t>
            </a:r>
            <a:r>
              <a:rPr lang="pl-PL" sz="2000" b="1">
                <a:ea typeface="+mn-lt"/>
                <a:cs typeface="+mn-lt"/>
              </a:rPr>
              <a:t>czystsze niż woda</a:t>
            </a:r>
            <a:r>
              <a:rPr lang="pl-PL" sz="2000">
                <a:ea typeface="+mn-lt"/>
                <a:cs typeface="+mn-lt"/>
              </a:rPr>
              <a:t>.</a:t>
            </a:r>
            <a:endParaRPr lang="pl-PL" sz="2000"/>
          </a:p>
          <a:p>
            <a:pPr>
              <a:lnSpc>
                <a:spcPct val="110000"/>
              </a:lnSpc>
            </a:pPr>
            <a:r>
              <a:rPr lang="pl-PL" sz="2000">
                <a:ea typeface="+mn-lt"/>
                <a:cs typeface="+mn-lt"/>
              </a:rPr>
              <a:t>🤖 Dziś analizujemy je… </a:t>
            </a:r>
            <a:r>
              <a:rPr lang="pl-PL" sz="2000" b="1">
                <a:ea typeface="+mn-lt"/>
                <a:cs typeface="+mn-lt"/>
              </a:rPr>
              <a:t>modelami uczenia maszynowego.</a:t>
            </a:r>
            <a:r>
              <a:rPr lang="pl-PL" sz="2000">
                <a:ea typeface="+mn-lt"/>
                <a:cs typeface="+mn-lt"/>
              </a:rPr>
              <a:t> Bachus by się chyba nie spodziewał.</a:t>
            </a:r>
            <a:endParaRPr lang="pl-PL" sz="2000"/>
          </a:p>
          <a:p>
            <a:pPr>
              <a:lnSpc>
                <a:spcPct val="110000"/>
              </a:lnSpc>
            </a:pPr>
            <a:endParaRPr lang="pl-PL" b="1"/>
          </a:p>
          <a:p>
            <a:pPr>
              <a:lnSpc>
                <a:spcPct val="110000"/>
              </a:lnSpc>
            </a:pPr>
            <a:endParaRPr lang="pl-PL" sz="1100"/>
          </a:p>
        </p:txBody>
      </p:sp>
      <p:pic>
        <p:nvPicPr>
          <p:cNvPr id="10" name="Obraz 9" descr="Dionizos Michała Anioła">
            <a:extLst>
              <a:ext uri="{FF2B5EF4-FFF2-40B4-BE49-F238E27FC236}">
                <a16:creationId xmlns:a16="http://schemas.microsoft.com/office/drawing/2014/main" id="{6A959A92-F698-0F2D-C05E-B1F520E21D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785" r="1" b="16258"/>
          <a:stretch>
            <a:fillRect/>
          </a:stretch>
        </p:blipFill>
        <p:spPr>
          <a:xfrm>
            <a:off x="7156290" y="78539"/>
            <a:ext cx="4963886" cy="6700922"/>
          </a:xfrm>
          <a:custGeom>
            <a:avLst/>
            <a:gdLst/>
            <a:ahLst/>
            <a:cxnLst/>
            <a:rect l="l" t="t" r="r" b="b"/>
            <a:pathLst>
              <a:path w="4963886" h="6700922">
                <a:moveTo>
                  <a:pt x="678017" y="0"/>
                </a:moveTo>
                <a:lnTo>
                  <a:pt x="4285869" y="0"/>
                </a:lnTo>
                <a:cubicBezTo>
                  <a:pt x="4660327" y="0"/>
                  <a:pt x="4963886" y="303559"/>
                  <a:pt x="4963886" y="678017"/>
                </a:cubicBezTo>
                <a:lnTo>
                  <a:pt x="4963886" y="6022905"/>
                </a:lnTo>
                <a:cubicBezTo>
                  <a:pt x="4963886" y="6397363"/>
                  <a:pt x="4660327" y="6700922"/>
                  <a:pt x="4285869" y="6700922"/>
                </a:cubicBezTo>
                <a:lnTo>
                  <a:pt x="678017" y="6700922"/>
                </a:lnTo>
                <a:cubicBezTo>
                  <a:pt x="303559" y="6700922"/>
                  <a:pt x="0" y="6397363"/>
                  <a:pt x="0" y="6022905"/>
                </a:cubicBezTo>
                <a:lnTo>
                  <a:pt x="0" y="678017"/>
                </a:lnTo>
                <a:cubicBezTo>
                  <a:pt x="0" y="303559"/>
                  <a:pt x="303559" y="0"/>
                  <a:pt x="678017" y="0"/>
                </a:cubicBezTo>
                <a:close/>
              </a:path>
            </a:pathLst>
          </a:custGeom>
        </p:spPr>
      </p:pic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E0ED77A4-65C4-DF20-2D25-80D768B2B7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44016" y="6424761"/>
            <a:ext cx="405993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>
                <a:solidFill>
                  <a:srgbClr val="FFFFFF"/>
                </a:solidFill>
              </a:rPr>
              <a:t>Słudzy Bachusa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461F7DEA-F383-5098-A47E-2E1102232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3951" y="6425816"/>
            <a:ext cx="429768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E91CC32-6A6B-4E2E-BBA1-6864F305DA26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2</a:t>
            </a:fld>
            <a:endParaRPr lang="en-US">
              <a:solidFill>
                <a:srgbClr val="FFFFFF"/>
              </a:solidFill>
            </a:endParaRPr>
          </a:p>
        </p:txBody>
      </p:sp>
      <p:pic>
        <p:nvPicPr>
          <p:cNvPr id="8" name="Grafika 7">
            <a:extLst>
              <a:ext uri="{FF2B5EF4-FFF2-40B4-BE49-F238E27FC236}">
                <a16:creationId xmlns:a16="http://schemas.microsoft.com/office/drawing/2014/main" id="{2C4D274F-D6EA-7E18-2BE2-C52B2BBFC4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683076" y="3760542"/>
            <a:ext cx="328615" cy="219020"/>
          </a:xfrm>
          <a:prstGeom prst="rect">
            <a:avLst/>
          </a:prstGeom>
        </p:spPr>
      </p:pic>
      <p:pic>
        <p:nvPicPr>
          <p:cNvPr id="7" name="Grafika 6">
            <a:extLst>
              <a:ext uri="{FF2B5EF4-FFF2-40B4-BE49-F238E27FC236}">
                <a16:creationId xmlns:a16="http://schemas.microsoft.com/office/drawing/2014/main" id="{94DE9894-6FBD-F6D7-63C3-728C8BBB057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flipH="1">
            <a:off x="685232" y="2617543"/>
            <a:ext cx="345674" cy="2612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23909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2F2A31-C129-2298-9973-26A0E0FAAE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B1821DCB-EBD2-8391-B182-759AAF7752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004" y="335190"/>
            <a:ext cx="5049041" cy="1811482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l-PL" sz="3400" b="0"/>
              <a:t>🍷 </a:t>
            </a:r>
            <a:r>
              <a:rPr lang="pl-PL" sz="3400"/>
              <a:t>Bachus – patron wina, zabawy i... analizy sensorycznej?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92B62E2C-326F-6305-C7D2-A2769F3274A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0137" y="63202"/>
            <a:ext cx="2743200" cy="318221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F996519-E62D-4F8C-AE1E-36928EC7D15C}" type="datetime1">
              <a:rPr lang="en-US" smtClean="0"/>
              <a:pPr>
                <a:spcAft>
                  <a:spcPts val="600"/>
                </a:spcAft>
              </a:pPr>
              <a:t>10/11/2025</a:t>
            </a:fld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F4BDBA48-263B-BADB-F0DA-84029E6735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431" y="2888253"/>
            <a:ext cx="5062115" cy="3547872"/>
          </a:xfrm>
        </p:spPr>
        <p:txBody>
          <a:bodyPr vert="horz" lIns="91440" tIns="45720" rIns="91440" bIns="45720" rtlCol="0" anchor="b">
            <a:noAutofit/>
          </a:bodyPr>
          <a:lstStyle/>
          <a:p>
            <a:pPr marL="0" indent="0">
              <a:lnSpc>
                <a:spcPct val="110000"/>
              </a:lnSpc>
              <a:buNone/>
            </a:pPr>
            <a:endParaRPr lang="pl-PL" b="1"/>
          </a:p>
          <a:p>
            <a:pPr marL="0" indent="0">
              <a:lnSpc>
                <a:spcPct val="110000"/>
              </a:lnSpc>
              <a:buNone/>
            </a:pPr>
            <a:r>
              <a:rPr lang="pl-PL">
                <a:ea typeface="+mn-lt"/>
                <a:cs typeface="+mn-lt"/>
              </a:rPr>
              <a:t>Bachus (u Greków znany jako </a:t>
            </a:r>
            <a:r>
              <a:rPr lang="pl-PL" b="1">
                <a:ea typeface="+mn-lt"/>
                <a:cs typeface="+mn-lt"/>
              </a:rPr>
              <a:t>Dionizos</a:t>
            </a:r>
            <a:r>
              <a:rPr lang="pl-PL">
                <a:ea typeface="+mn-lt"/>
                <a:cs typeface="+mn-lt"/>
              </a:rPr>
              <a:t>) był bogiem:</a:t>
            </a:r>
            <a:endParaRPr lang="pl-PL"/>
          </a:p>
          <a:p>
            <a:pPr>
              <a:lnSpc>
                <a:spcPct val="110000"/>
              </a:lnSpc>
            </a:pPr>
            <a:r>
              <a:rPr lang="pl-PL">
                <a:ea typeface="+mn-lt"/>
                <a:cs typeface="+mn-lt"/>
              </a:rPr>
              <a:t>wina,</a:t>
            </a:r>
            <a:endParaRPr lang="pl-PL"/>
          </a:p>
          <a:p>
            <a:pPr>
              <a:lnSpc>
                <a:spcPct val="110000"/>
              </a:lnSpc>
            </a:pPr>
            <a:r>
              <a:rPr lang="pl-PL">
                <a:ea typeface="+mn-lt"/>
                <a:cs typeface="+mn-lt"/>
              </a:rPr>
              <a:t>radości,</a:t>
            </a:r>
            <a:endParaRPr lang="pl-PL"/>
          </a:p>
          <a:p>
            <a:pPr>
              <a:lnSpc>
                <a:spcPct val="110000"/>
              </a:lnSpc>
            </a:pPr>
            <a:r>
              <a:rPr lang="pl-PL">
                <a:ea typeface="+mn-lt"/>
                <a:cs typeface="+mn-lt"/>
              </a:rPr>
              <a:t>płodności,</a:t>
            </a:r>
            <a:endParaRPr lang="pl-PL"/>
          </a:p>
          <a:p>
            <a:pPr>
              <a:lnSpc>
                <a:spcPct val="110000"/>
              </a:lnSpc>
            </a:pPr>
            <a:r>
              <a:rPr lang="pl-PL">
                <a:ea typeface="+mn-lt"/>
                <a:cs typeface="+mn-lt"/>
              </a:rPr>
              <a:t>i wszystkiego, co kończy się słowem „impreza”. 🎉</a:t>
            </a:r>
            <a:endParaRPr lang="pl-PL"/>
          </a:p>
          <a:p>
            <a:pPr marL="0" indent="0">
              <a:lnSpc>
                <a:spcPct val="110000"/>
              </a:lnSpc>
              <a:buNone/>
            </a:pPr>
            <a:r>
              <a:rPr lang="pl-PL">
                <a:ea typeface="+mn-lt"/>
                <a:cs typeface="+mn-lt"/>
              </a:rPr>
              <a:t>Według mitu Bachus podróżował po świecie, ucząc ludzi, jak uprawiać winorośl i robić wino —czyli był pierwszym </a:t>
            </a:r>
            <a:r>
              <a:rPr lang="pl-PL" b="1" err="1">
                <a:ea typeface="+mn-lt"/>
                <a:cs typeface="+mn-lt"/>
              </a:rPr>
              <a:t>influencerem</a:t>
            </a:r>
            <a:r>
              <a:rPr lang="pl-PL" b="1">
                <a:ea typeface="+mn-lt"/>
                <a:cs typeface="+mn-lt"/>
              </a:rPr>
              <a:t> </a:t>
            </a:r>
            <a:r>
              <a:rPr lang="pl-PL" b="1" err="1">
                <a:ea typeface="+mn-lt"/>
                <a:cs typeface="+mn-lt"/>
              </a:rPr>
              <a:t>enologicznym</a:t>
            </a:r>
            <a:r>
              <a:rPr lang="pl-PL">
                <a:ea typeface="+mn-lt"/>
                <a:cs typeface="+mn-lt"/>
              </a:rPr>
              <a:t> 🍇📱</a:t>
            </a:r>
            <a:endParaRPr lang="pl-PL"/>
          </a:p>
          <a:p>
            <a:pPr>
              <a:lnSpc>
                <a:spcPct val="110000"/>
              </a:lnSpc>
            </a:pPr>
            <a:endParaRPr lang="pl-PL" sz="1500"/>
          </a:p>
        </p:txBody>
      </p:sp>
      <p:pic>
        <p:nvPicPr>
          <p:cNvPr id="7" name="Obraz 6" descr="Bachus autorstwa Baccio del Bianco">
            <a:extLst>
              <a:ext uri="{FF2B5EF4-FFF2-40B4-BE49-F238E27FC236}">
                <a16:creationId xmlns:a16="http://schemas.microsoft.com/office/drawing/2014/main" id="{D3368630-A239-880A-521F-2EDECE5D01B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861" r="1" b="3407"/>
          <a:stretch>
            <a:fillRect/>
          </a:stretch>
        </p:blipFill>
        <p:spPr>
          <a:xfrm>
            <a:off x="7156290" y="78539"/>
            <a:ext cx="4963886" cy="6700922"/>
          </a:xfrm>
          <a:custGeom>
            <a:avLst/>
            <a:gdLst/>
            <a:ahLst/>
            <a:cxnLst/>
            <a:rect l="l" t="t" r="r" b="b"/>
            <a:pathLst>
              <a:path w="4963886" h="6700922">
                <a:moveTo>
                  <a:pt x="678017" y="0"/>
                </a:moveTo>
                <a:lnTo>
                  <a:pt x="4285869" y="0"/>
                </a:lnTo>
                <a:cubicBezTo>
                  <a:pt x="4660327" y="0"/>
                  <a:pt x="4963886" y="303559"/>
                  <a:pt x="4963886" y="678017"/>
                </a:cubicBezTo>
                <a:lnTo>
                  <a:pt x="4963886" y="6022905"/>
                </a:lnTo>
                <a:cubicBezTo>
                  <a:pt x="4963886" y="6397363"/>
                  <a:pt x="4660327" y="6700922"/>
                  <a:pt x="4285869" y="6700922"/>
                </a:cubicBezTo>
                <a:lnTo>
                  <a:pt x="678017" y="6700922"/>
                </a:lnTo>
                <a:cubicBezTo>
                  <a:pt x="303559" y="6700922"/>
                  <a:pt x="0" y="6397363"/>
                  <a:pt x="0" y="6022905"/>
                </a:cubicBezTo>
                <a:lnTo>
                  <a:pt x="0" y="678017"/>
                </a:lnTo>
                <a:cubicBezTo>
                  <a:pt x="0" y="303559"/>
                  <a:pt x="303559" y="0"/>
                  <a:pt x="678017" y="0"/>
                </a:cubicBezTo>
                <a:close/>
              </a:path>
            </a:pathLst>
          </a:custGeom>
        </p:spPr>
      </p:pic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88E10D8-4878-F8BF-5D19-9843074B73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44016" y="6424761"/>
            <a:ext cx="405993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>
                <a:solidFill>
                  <a:srgbClr val="FFFFFF"/>
                </a:solidFill>
              </a:rPr>
              <a:t>Słudzy Bachusa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1653DD0-012B-E2C3-07A1-8E23CFA8B9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3951" y="6425816"/>
            <a:ext cx="429768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E91CC32-6A6B-4E2E-BBA1-6864F305DA26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3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75685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Obraz 7" descr="Wyjazdy winiarskie – Misja Wino | Kondrat Wina Wybrane">
            <a:extLst>
              <a:ext uri="{FF2B5EF4-FFF2-40B4-BE49-F238E27FC236}">
                <a16:creationId xmlns:a16="http://schemas.microsoft.com/office/drawing/2014/main" id="{F1270350-C889-1010-5D90-6ECD78C9F4C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111" r="-1" b="-1"/>
          <a:stretch>
            <a:fillRect/>
          </a:stretch>
        </p:blipFill>
        <p:spPr>
          <a:xfrm>
            <a:off x="20" y="1"/>
            <a:ext cx="12191979" cy="6858000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0B17514E-A6FB-E691-BEE8-378E57EA27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0"/>
            <a:ext cx="12192000" cy="4043806"/>
          </a:xfrm>
          <a:prstGeom prst="rect">
            <a:avLst/>
          </a:prstGeom>
          <a:gradFill>
            <a:gsLst>
              <a:gs pos="55000">
                <a:srgbClr val="000000">
                  <a:alpha val="28000"/>
                </a:srgbClr>
              </a:gs>
              <a:gs pos="0">
                <a:srgbClr val="000000">
                  <a:alpha val="0"/>
                </a:srgbClr>
              </a:gs>
              <a:gs pos="100000">
                <a:srgbClr val="000000">
                  <a:alpha val="5000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A952F34F-0117-52A3-0EDA-14BB27B658C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0 w 12192000"/>
              <a:gd name="connsiteY0" fmla="*/ 0 h 6858000"/>
              <a:gd name="connsiteX1" fmla="*/ 1 w 12192000"/>
              <a:gd name="connsiteY1" fmla="*/ 0 h 6858000"/>
              <a:gd name="connsiteX2" fmla="*/ 1 w 12192000"/>
              <a:gd name="connsiteY2" fmla="*/ 4898693 h 6858000"/>
              <a:gd name="connsiteX3" fmla="*/ 13428 w 12192000"/>
              <a:gd name="connsiteY3" fmla="*/ 5031883 h 6858000"/>
              <a:gd name="connsiteX4" fmla="*/ 660931 w 12192000"/>
              <a:gd name="connsiteY4" fmla="*/ 5559613 h 6858000"/>
              <a:gd name="connsiteX5" fmla="*/ 11531069 w 12192000"/>
              <a:gd name="connsiteY5" fmla="*/ 5559613 h 6858000"/>
              <a:gd name="connsiteX6" fmla="*/ 12192000 w 12192000"/>
              <a:gd name="connsiteY6" fmla="*/ 4898682 h 6858000"/>
              <a:gd name="connsiteX7" fmla="*/ 12192000 w 12192000"/>
              <a:gd name="connsiteY7" fmla="*/ 6858000 h 6858000"/>
              <a:gd name="connsiteX8" fmla="*/ 0 w 12192000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6858000">
                <a:moveTo>
                  <a:pt x="0" y="0"/>
                </a:moveTo>
                <a:lnTo>
                  <a:pt x="1" y="0"/>
                </a:lnTo>
                <a:lnTo>
                  <a:pt x="1" y="4898693"/>
                </a:lnTo>
                <a:lnTo>
                  <a:pt x="13428" y="5031883"/>
                </a:lnTo>
                <a:cubicBezTo>
                  <a:pt x="75057" y="5333058"/>
                  <a:pt x="341537" y="5559613"/>
                  <a:pt x="660931" y="5559613"/>
                </a:cubicBezTo>
                <a:lnTo>
                  <a:pt x="11531069" y="5559613"/>
                </a:lnTo>
                <a:cubicBezTo>
                  <a:pt x="11896091" y="5559613"/>
                  <a:pt x="12192000" y="5263704"/>
                  <a:pt x="12192000" y="4898682"/>
                </a:cubicBez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13B5BF4D-D223-3F96-3504-68B736DD6E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3428" y="384561"/>
            <a:ext cx="4552400" cy="931506"/>
          </a:xfrm>
        </p:spPr>
        <p:txBody>
          <a:bodyPr vert="horz" lIns="91440" tIns="45720" rIns="91440" bIns="45720" rtlCol="0" anchor="t">
            <a:normAutofit fontScale="90000"/>
          </a:bodyPr>
          <a:lstStyle/>
          <a:p>
            <a:r>
              <a:rPr lang="en-US" sz="4800" err="1">
                <a:solidFill>
                  <a:srgbClr val="FFFFFF"/>
                </a:solidFill>
              </a:rPr>
              <a:t>Słudzy</a:t>
            </a:r>
            <a:r>
              <a:rPr lang="en-US" sz="4800">
                <a:solidFill>
                  <a:srgbClr val="FFFFFF"/>
                </a:solidFill>
              </a:rPr>
              <a:t> </a:t>
            </a:r>
            <a:r>
              <a:rPr lang="en-US" sz="4800" err="1">
                <a:solidFill>
                  <a:srgbClr val="FFFFFF"/>
                </a:solidFill>
              </a:rPr>
              <a:t>Bachusa</a:t>
            </a:r>
            <a:br>
              <a:rPr lang="en-US" sz="4800"/>
            </a:br>
            <a:endParaRPr lang="en-US" sz="4800">
              <a:solidFill>
                <a:srgbClr val="FFFFFF"/>
              </a:solidFill>
            </a:endParaRP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786534B0-3D0C-B4A3-E6DC-0082E70121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9100" y="5911683"/>
            <a:ext cx="11217949" cy="556941"/>
          </a:xfrm>
        </p:spPr>
        <p:txBody>
          <a:bodyPr vert="horz" lIns="91440" tIns="45720" rIns="91440" bIns="45720" rtlCol="0" anchor="ctr">
            <a:noAutofit/>
          </a:bodyPr>
          <a:lstStyle/>
          <a:p>
            <a:pPr marL="0" indent="0" algn="ctr">
              <a:buNone/>
            </a:pPr>
            <a:r>
              <a:rPr lang="pl-PL" sz="2800" b="1"/>
              <a:t>Połączyć boską inspirację z nauką i przewidzieć jakość wina lepiej niż sam bóg 🍷😎</a:t>
            </a:r>
            <a:endParaRPr lang="pl-PL" sz="280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2D1ABB0-02A6-624B-6CDB-90663AE9C3F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0137" y="63202"/>
            <a:ext cx="2743200" cy="31822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F996519-E62D-4F8C-AE1E-36928EC7D15C}" type="datetime1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10/11/2025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D48E3019-1D1F-DEA7-6F99-49B961CB6F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44016" y="6424761"/>
            <a:ext cx="405993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b="0" kern="1200" cap="all" spc="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Słudzy Bachusa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76990733-4CAC-1D2B-5BBD-D2C30F2C5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3951" y="6425816"/>
            <a:ext cx="429768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E91CC32-6A6B-4E2E-BBA1-6864F305DA26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849160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54345DC-EB2E-A891-253E-7F084E745F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l-PL" sz="4000"/>
              <a:t>Produkcja i konsumpcja wina 2024</a:t>
            </a:r>
          </a:p>
        </p:txBody>
      </p:sp>
      <p:sp>
        <p:nvSpPr>
          <p:cNvPr id="8" name="Symbol zastępczy tekstu 7">
            <a:extLst>
              <a:ext uri="{FF2B5EF4-FFF2-40B4-BE49-F238E27FC236}">
                <a16:creationId xmlns:a16="http://schemas.microsoft.com/office/drawing/2014/main" id="{8E83A5D9-0327-4E33-89A7-09CD3194AC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>
                <a:ea typeface="+mn-lt"/>
                <a:cs typeface="+mn-lt"/>
              </a:rPr>
              <a:t>🏭</a:t>
            </a:r>
            <a:r>
              <a:rPr lang="pl-PL"/>
              <a:t> Produkcja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CECA36F-8699-D296-BE6B-E840409EE9E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285750" indent="-285750"/>
            <a:r>
              <a:rPr lang="pl-PL"/>
              <a:t>225,8 mln hektolitrów  - spadek 5% YoY</a:t>
            </a:r>
          </a:p>
          <a:p>
            <a:r>
              <a:rPr lang="pl-PL">
                <a:solidFill>
                  <a:srgbClr val="FFFFFF"/>
                </a:solidFill>
                <a:latin typeface="Neue Haas Grotesk Text Pro"/>
                <a:cs typeface="Arial"/>
              </a:rPr>
              <a:t>TOP producenci:</a:t>
            </a:r>
            <a:endParaRPr lang="pl-PL" sz="1200">
              <a:solidFill>
                <a:srgbClr val="212529"/>
              </a:solidFill>
              <a:latin typeface="Arial"/>
              <a:cs typeface="Arial"/>
            </a:endParaRPr>
          </a:p>
          <a:p>
            <a:pPr marL="514350" lvl="1" indent="-285750">
              <a:buFont typeface="Courier New" panose="020B0604020202020204" pitchFamily="34" charset="0"/>
              <a:buChar char="o"/>
            </a:pPr>
            <a:r>
              <a:rPr lang="pl-PL">
                <a:solidFill>
                  <a:srgbClr val="FFFFFF"/>
                </a:solidFill>
                <a:latin typeface="Neue Haas Grotesk Text Pro"/>
                <a:cs typeface="Arial"/>
              </a:rPr>
              <a:t>Włochy - 44,2 mln </a:t>
            </a:r>
            <a:r>
              <a:rPr lang="pl-PL" err="1">
                <a:solidFill>
                  <a:srgbClr val="FFFFFF"/>
                </a:solidFill>
                <a:latin typeface="Neue Haas Grotesk Text Pro"/>
                <a:cs typeface="Arial"/>
              </a:rPr>
              <a:t>hl</a:t>
            </a:r>
            <a:endParaRPr lang="pl-PL">
              <a:solidFill>
                <a:srgbClr val="FFFFFF"/>
              </a:solidFill>
              <a:latin typeface="Neue Haas Grotesk Text Pro"/>
              <a:cs typeface="Arial"/>
            </a:endParaRPr>
          </a:p>
          <a:p>
            <a:pPr marL="514350" lvl="1" indent="-285750">
              <a:buFont typeface="Courier New" panose="020B0604020202020204" pitchFamily="34" charset="0"/>
              <a:buChar char="o"/>
            </a:pPr>
            <a:r>
              <a:rPr lang="pl-PL">
                <a:solidFill>
                  <a:srgbClr val="FFFFFF"/>
                </a:solidFill>
                <a:latin typeface="Neue Haas Grotesk Text Pro"/>
                <a:cs typeface="Arial"/>
              </a:rPr>
              <a:t>Francja – 36,9 mln </a:t>
            </a:r>
            <a:r>
              <a:rPr lang="pl-PL" err="1">
                <a:solidFill>
                  <a:srgbClr val="FFFFFF"/>
                </a:solidFill>
                <a:latin typeface="Neue Haas Grotesk Text Pro"/>
                <a:cs typeface="Arial"/>
              </a:rPr>
              <a:t>hl</a:t>
            </a:r>
            <a:r>
              <a:rPr lang="pl-PL">
                <a:solidFill>
                  <a:srgbClr val="FFFFFF"/>
                </a:solidFill>
                <a:latin typeface="Neue Haas Grotesk Text Pro"/>
                <a:cs typeface="Arial"/>
              </a:rPr>
              <a:t> </a:t>
            </a:r>
          </a:p>
          <a:p>
            <a:pPr marL="514350" lvl="1" indent="-285750">
              <a:buFont typeface="Courier New" panose="020B0604020202020204" pitchFamily="34" charset="0"/>
              <a:buChar char="o"/>
            </a:pPr>
            <a:r>
              <a:rPr lang="pl-PL">
                <a:solidFill>
                  <a:srgbClr val="FFFFFF"/>
                </a:solidFill>
                <a:latin typeface="Neue Haas Grotesk Text Pro"/>
                <a:cs typeface="Arial"/>
              </a:rPr>
              <a:t>Hiszpania – 33,6 mln </a:t>
            </a:r>
            <a:r>
              <a:rPr lang="pl-PL" err="1">
                <a:solidFill>
                  <a:srgbClr val="FFFFFF"/>
                </a:solidFill>
                <a:latin typeface="Neue Haas Grotesk Text Pro"/>
                <a:cs typeface="Arial"/>
              </a:rPr>
              <a:t>hl</a:t>
            </a:r>
            <a:r>
              <a:rPr lang="pl-PL">
                <a:solidFill>
                  <a:srgbClr val="FFFFFF"/>
                </a:solidFill>
                <a:latin typeface="Neue Haas Grotesk Text Pro"/>
                <a:cs typeface="Arial"/>
              </a:rPr>
              <a:t> </a:t>
            </a:r>
          </a:p>
          <a:p>
            <a:pPr marL="0" indent="0">
              <a:buNone/>
            </a:pPr>
            <a:endParaRPr lang="pl-PL" sz="1300" b="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" name="Symbol zastępczy tekstu 8">
            <a:extLst>
              <a:ext uri="{FF2B5EF4-FFF2-40B4-BE49-F238E27FC236}">
                <a16:creationId xmlns:a16="http://schemas.microsoft.com/office/drawing/2014/main" id="{53D90CC5-17B5-1BB0-E28B-D2506D9FB5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pl-PL">
                <a:ea typeface="+mn-lt"/>
                <a:cs typeface="+mn-lt"/>
              </a:rPr>
              <a:t>🍷</a:t>
            </a:r>
            <a:r>
              <a:rPr lang="pl-PL"/>
              <a:t> Konsumpcja</a:t>
            </a:r>
          </a:p>
        </p:txBody>
      </p:sp>
      <p:sp>
        <p:nvSpPr>
          <p:cNvPr id="10" name="Symbol zastępczy zawartości 9">
            <a:extLst>
              <a:ext uri="{FF2B5EF4-FFF2-40B4-BE49-F238E27FC236}">
                <a16:creationId xmlns:a16="http://schemas.microsoft.com/office/drawing/2014/main" id="{0AC79DED-8AB2-1AA3-F001-D119BFD3B8FE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pl-PL"/>
              <a:t>214,2 mln hektolitrów - spadek o 3.3% YoY</a:t>
            </a:r>
          </a:p>
          <a:p>
            <a:r>
              <a:rPr lang="pl-PL"/>
              <a:t>TOP konsumenci: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pl-PL"/>
              <a:t>USA 33 mln </a:t>
            </a:r>
            <a:r>
              <a:rPr lang="pl-PL" err="1"/>
              <a:t>hl</a:t>
            </a:r>
            <a:endParaRPr lang="pl-PL"/>
          </a:p>
          <a:p>
            <a:pPr lvl="1">
              <a:buFont typeface="Courier New" panose="020B0604020202020204" pitchFamily="34" charset="0"/>
              <a:buChar char="o"/>
            </a:pPr>
            <a:r>
              <a:rPr lang="pl-PL"/>
              <a:t>Francja 23 mln </a:t>
            </a:r>
            <a:r>
              <a:rPr lang="pl-PL" err="1"/>
              <a:t>hl</a:t>
            </a:r>
            <a:endParaRPr lang="pl-PL"/>
          </a:p>
          <a:p>
            <a:pPr lvl="1">
              <a:buFont typeface="Courier New" panose="020B0604020202020204" pitchFamily="34" charset="0"/>
              <a:buChar char="o"/>
            </a:pPr>
            <a:r>
              <a:rPr lang="pl-PL"/>
              <a:t>Włochy 22.3 mln </a:t>
            </a:r>
            <a:r>
              <a:rPr lang="pl-PL" err="1"/>
              <a:t>hl</a:t>
            </a:r>
            <a:endParaRPr lang="pl-PL"/>
          </a:p>
          <a:p>
            <a:endParaRPr lang="pl-PL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D06D1E8-5B49-8F77-89B4-F12FEEE2F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96519-E62D-4F8C-AE1E-36928EC7D15C}" type="datetime1">
              <a:rPr lang="en-US" smtClean="0"/>
              <a:t>10/11/2025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A34E4105-E40E-0917-8CF8-43D052E6A9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Słudzy Bachusa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FD8580B7-E74C-C4E3-BA73-9F12C4AE8F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5</a:t>
            </a:fld>
            <a:endParaRPr lang="en-US"/>
          </a:p>
        </p:txBody>
      </p:sp>
      <p:sp>
        <p:nvSpPr>
          <p:cNvPr id="11" name="Prostokąt 10">
            <a:extLst>
              <a:ext uri="{FF2B5EF4-FFF2-40B4-BE49-F238E27FC236}">
                <a16:creationId xmlns:a16="http://schemas.microsoft.com/office/drawing/2014/main" id="{309D524D-CF09-A1A3-B9CF-C33C4F8F8500}"/>
              </a:ext>
            </a:extLst>
          </p:cNvPr>
          <p:cNvSpPr/>
          <p:nvPr/>
        </p:nvSpPr>
        <p:spPr>
          <a:xfrm>
            <a:off x="230963" y="57740"/>
            <a:ext cx="923855" cy="3031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pic>
        <p:nvPicPr>
          <p:cNvPr id="12" name="Grafika 11">
            <a:extLst>
              <a:ext uri="{FF2B5EF4-FFF2-40B4-BE49-F238E27FC236}">
                <a16:creationId xmlns:a16="http://schemas.microsoft.com/office/drawing/2014/main" id="{C0E0B452-CF80-7FBF-91E3-8D7E1B9CD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3684895" y="3899089"/>
            <a:ext cx="409432" cy="276746"/>
          </a:xfrm>
          <a:prstGeom prst="rect">
            <a:avLst/>
          </a:prstGeom>
        </p:spPr>
      </p:pic>
      <p:pic>
        <p:nvPicPr>
          <p:cNvPr id="15" name="Grafika 14">
            <a:extLst>
              <a:ext uri="{FF2B5EF4-FFF2-40B4-BE49-F238E27FC236}">
                <a16:creationId xmlns:a16="http://schemas.microsoft.com/office/drawing/2014/main" id="{5DBB7E82-E246-5AB3-8498-8603DD83552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684896" y="4297148"/>
            <a:ext cx="398060" cy="265374"/>
          </a:xfrm>
          <a:prstGeom prst="rect">
            <a:avLst/>
          </a:prstGeom>
        </p:spPr>
      </p:pic>
      <p:pic>
        <p:nvPicPr>
          <p:cNvPr id="17" name="Grafika 16">
            <a:extLst>
              <a:ext uri="{FF2B5EF4-FFF2-40B4-BE49-F238E27FC236}">
                <a16:creationId xmlns:a16="http://schemas.microsoft.com/office/drawing/2014/main" id="{4623976C-4727-F190-9285-1B866E8371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11821" y="4297148"/>
            <a:ext cx="398060" cy="265374"/>
          </a:xfrm>
          <a:prstGeom prst="rect">
            <a:avLst/>
          </a:prstGeom>
        </p:spPr>
      </p:pic>
      <p:pic>
        <p:nvPicPr>
          <p:cNvPr id="18" name="Grafika 17">
            <a:extLst>
              <a:ext uri="{FF2B5EF4-FFF2-40B4-BE49-F238E27FC236}">
                <a16:creationId xmlns:a16="http://schemas.microsoft.com/office/drawing/2014/main" id="{90764939-AA92-D8DE-5FAA-B0A59AF3017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55493" y="4649716"/>
            <a:ext cx="398061" cy="254001"/>
          </a:xfrm>
          <a:prstGeom prst="rect">
            <a:avLst/>
          </a:prstGeom>
        </p:spPr>
      </p:pic>
      <p:pic>
        <p:nvPicPr>
          <p:cNvPr id="19" name="Grafika 18">
            <a:extLst>
              <a:ext uri="{FF2B5EF4-FFF2-40B4-BE49-F238E27FC236}">
                <a16:creationId xmlns:a16="http://schemas.microsoft.com/office/drawing/2014/main" id="{6952C23A-1A6E-AF57-E228-5FA088A4E2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450239" y="3906072"/>
            <a:ext cx="443553" cy="262780"/>
          </a:xfrm>
          <a:prstGeom prst="rect">
            <a:avLst/>
          </a:prstGeom>
        </p:spPr>
      </p:pic>
      <p:pic>
        <p:nvPicPr>
          <p:cNvPr id="20" name="Grafika 19">
            <a:extLst>
              <a:ext uri="{FF2B5EF4-FFF2-40B4-BE49-F238E27FC236}">
                <a16:creationId xmlns:a16="http://schemas.microsoft.com/office/drawing/2014/main" id="{79EBE6D2-ABCF-82FA-2422-3DF795C9C7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flipH="1">
            <a:off x="8962029" y="4626969"/>
            <a:ext cx="409432" cy="276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6998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332F2A31-C129-2298-9973-26A0E0FAAE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5FB0451F-F920-FFA0-EE45-7E7615FDE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3023" y="403444"/>
            <a:ext cx="6479319" cy="1823027"/>
          </a:xfrm>
        </p:spPr>
        <p:txBody>
          <a:bodyPr anchor="t">
            <a:normAutofit/>
          </a:bodyPr>
          <a:lstStyle/>
          <a:p>
            <a:r>
              <a:rPr lang="pl-PL" sz="3700" b="0">
                <a:ea typeface="+mj-lt"/>
                <a:cs typeface="+mj-lt"/>
              </a:rPr>
              <a:t>🍷 </a:t>
            </a:r>
            <a:r>
              <a:rPr lang="pl-PL" sz="3700">
                <a:ea typeface="+mj-lt"/>
                <a:cs typeface="+mj-lt"/>
              </a:rPr>
              <a:t>Jak na tym zarobić, zanim wszystko wypijemy?</a:t>
            </a:r>
            <a:endParaRPr lang="pl-PL" sz="370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5A845904-9837-F358-EBF9-0EACEC8CDA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0137" y="63202"/>
            <a:ext cx="2743200" cy="318221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F996519-E62D-4F8C-AE1E-36928EC7D15C}" type="datetime1">
              <a:rPr lang="en-US" smtClean="0"/>
              <a:pPr>
                <a:spcAft>
                  <a:spcPts val="600"/>
                </a:spcAft>
              </a:pPr>
              <a:t>10/11/2025</a:t>
            </a:fld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DA3E8B95-1B1F-45A6-86CC-1002D79A54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3410" y="2074150"/>
            <a:ext cx="6453089" cy="4071934"/>
          </a:xfrm>
        </p:spPr>
        <p:txBody>
          <a:bodyPr vert="horz" lIns="91440" tIns="45720" rIns="91440" bIns="45720" rtlCol="0" anchor="b">
            <a:normAutofit fontScale="92500" lnSpcReduction="10000"/>
          </a:bodyPr>
          <a:lstStyle/>
          <a:p>
            <a:pPr marL="0" indent="0">
              <a:buNone/>
            </a:pPr>
            <a:r>
              <a:rPr lang="pl-PL" sz="2000" dirty="0">
                <a:ea typeface="+mn-lt"/>
                <a:cs typeface="+mn-lt"/>
              </a:rPr>
              <a:t>🍇 producenci win – szybka, automatyczna ocena jakości partii bez panelu degustacyjnego,</a:t>
            </a:r>
            <a:endParaRPr lang="pl-PL" dirty="0"/>
          </a:p>
          <a:p>
            <a:pPr marL="0" indent="0">
              <a:buNone/>
            </a:pPr>
            <a:br>
              <a:rPr lang="pl-PL" sz="2000" dirty="0">
                <a:ea typeface="+mn-lt"/>
                <a:cs typeface="+mn-lt"/>
              </a:rPr>
            </a:br>
            <a:r>
              <a:rPr lang="pl-PL" sz="2000" dirty="0">
                <a:ea typeface="+mn-lt"/>
                <a:cs typeface="+mn-lt"/>
              </a:rPr>
              <a:t> 🧪 laboratoria i uczelnie – analiza i nauka wpływu cech chemicznych na jakość,</a:t>
            </a:r>
            <a:endParaRPr lang="pl-PL" dirty="0">
              <a:ea typeface="+mn-lt"/>
              <a:cs typeface="+mn-lt"/>
            </a:endParaRPr>
          </a:p>
          <a:p>
            <a:pPr marL="0" indent="0">
              <a:buNone/>
            </a:pPr>
            <a:br>
              <a:rPr lang="pl-PL" sz="2000" dirty="0">
                <a:ea typeface="+mn-lt"/>
                <a:cs typeface="+mn-lt"/>
              </a:rPr>
            </a:br>
            <a:r>
              <a:rPr lang="pl-PL" sz="2000" dirty="0">
                <a:ea typeface="+mn-lt"/>
                <a:cs typeface="+mn-lt"/>
              </a:rPr>
              <a:t> 🤖 pasjonaci – eksperymenty „co by było, gdyby” w profilu chemicznym wina,</a:t>
            </a:r>
            <a:endParaRPr lang="pl-PL" dirty="0">
              <a:ea typeface="+mn-lt"/>
              <a:cs typeface="+mn-lt"/>
            </a:endParaRPr>
          </a:p>
          <a:p>
            <a:pPr marL="0" indent="0">
              <a:buNone/>
            </a:pPr>
            <a:br>
              <a:rPr lang="pl-PL" sz="2000" dirty="0">
                <a:ea typeface="+mn-lt"/>
                <a:cs typeface="+mn-lt"/>
              </a:rPr>
            </a:br>
            <a:r>
              <a:rPr lang="pl-PL" sz="2000" dirty="0">
                <a:ea typeface="+mn-lt"/>
                <a:cs typeface="+mn-lt"/>
              </a:rPr>
              <a:t> 📊 rynek – możliwość tworzenia bazy danych i raportów o winach, platforma do </a:t>
            </a:r>
            <a:r>
              <a:rPr lang="pl-PL" sz="2000" err="1">
                <a:ea typeface="+mn-lt"/>
                <a:cs typeface="+mn-lt"/>
              </a:rPr>
              <a:t>benchmarkingu</a:t>
            </a:r>
            <a:r>
              <a:rPr lang="pl-PL" sz="2000" dirty="0">
                <a:ea typeface="+mn-lt"/>
                <a:cs typeface="+mn-lt"/>
              </a:rPr>
              <a:t> win</a:t>
            </a:r>
            <a:endParaRPr lang="pl-PL"/>
          </a:p>
        </p:txBody>
      </p:sp>
      <p:pic>
        <p:nvPicPr>
          <p:cNvPr id="9" name="Obraz 8" descr="Wesołe jest życie staruszka… - Blog o winie Winezja.pl | Winezja.pl">
            <a:extLst>
              <a:ext uri="{FF2B5EF4-FFF2-40B4-BE49-F238E27FC236}">
                <a16:creationId xmlns:a16="http://schemas.microsoft.com/office/drawing/2014/main" id="{D2C5D17A-2FD6-EBB2-42C6-E2E96F3A31D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29712" r="31212"/>
          <a:stretch>
            <a:fillRect/>
          </a:stretch>
        </p:blipFill>
        <p:spPr>
          <a:xfrm>
            <a:off x="7156290" y="78539"/>
            <a:ext cx="4963886" cy="6700922"/>
          </a:xfrm>
          <a:custGeom>
            <a:avLst/>
            <a:gdLst/>
            <a:ahLst/>
            <a:cxnLst/>
            <a:rect l="l" t="t" r="r" b="b"/>
            <a:pathLst>
              <a:path w="4963886" h="6700922">
                <a:moveTo>
                  <a:pt x="678017" y="0"/>
                </a:moveTo>
                <a:lnTo>
                  <a:pt x="4285869" y="0"/>
                </a:lnTo>
                <a:cubicBezTo>
                  <a:pt x="4660327" y="0"/>
                  <a:pt x="4963886" y="303559"/>
                  <a:pt x="4963886" y="678017"/>
                </a:cubicBezTo>
                <a:lnTo>
                  <a:pt x="4963886" y="6022905"/>
                </a:lnTo>
                <a:cubicBezTo>
                  <a:pt x="4963886" y="6397363"/>
                  <a:pt x="4660327" y="6700922"/>
                  <a:pt x="4285869" y="6700922"/>
                </a:cubicBezTo>
                <a:lnTo>
                  <a:pt x="678017" y="6700922"/>
                </a:lnTo>
                <a:cubicBezTo>
                  <a:pt x="303559" y="6700922"/>
                  <a:pt x="0" y="6397363"/>
                  <a:pt x="0" y="6022905"/>
                </a:cubicBezTo>
                <a:lnTo>
                  <a:pt x="0" y="678017"/>
                </a:lnTo>
                <a:cubicBezTo>
                  <a:pt x="0" y="303559"/>
                  <a:pt x="303559" y="0"/>
                  <a:pt x="678017" y="0"/>
                </a:cubicBezTo>
                <a:close/>
              </a:path>
            </a:pathLst>
          </a:custGeom>
        </p:spPr>
      </p:pic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15A8A6B6-2474-5905-58A0-A84F3D21E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44016" y="6424761"/>
            <a:ext cx="405993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>
                <a:solidFill>
                  <a:srgbClr val="FFFFFF"/>
                </a:solidFill>
              </a:rPr>
              <a:t>Słudzy Bachusa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8DBB482-A16F-8F1B-2BEA-B3D5BE1EAB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3951" y="6425816"/>
            <a:ext cx="429768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E91CC32-6A6B-4E2E-BBA1-6864F305DA26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6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8437630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BD400-EF3D-978A-481C-66543E474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FFFF4C2F-3A22-9CD9-41C2-7601C7AAE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7201" y="358945"/>
            <a:ext cx="9956747" cy="789669"/>
          </a:xfrm>
        </p:spPr>
        <p:txBody>
          <a:bodyPr/>
          <a:lstStyle/>
          <a:p>
            <a:r>
              <a:rPr lang="pl-PL" b="0">
                <a:ea typeface="+mj-lt"/>
                <a:cs typeface="+mj-lt"/>
              </a:rPr>
              <a:t>🧩</a:t>
            </a:r>
            <a:r>
              <a:rPr lang="pl-PL" sz="4000"/>
              <a:t>Dane wejściowe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0FD85EF-CFCB-1602-5469-7DC5AE8658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582" y="1152896"/>
            <a:ext cx="11676359" cy="5451247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pl-PL" dirty="0">
                <a:solidFill>
                  <a:srgbClr val="FFFFFF"/>
                </a:solidFill>
                <a:latin typeface="Neue Haas Grotesk Text Pro"/>
                <a:cs typeface="Arial"/>
              </a:rPr>
              <a:t>6497 rekordów</a:t>
            </a:r>
            <a:endParaRPr lang="pl-PL" dirty="0"/>
          </a:p>
          <a:p>
            <a:r>
              <a:rPr lang="pl-PL" dirty="0">
                <a:solidFill>
                  <a:srgbClr val="FFFFFF"/>
                </a:solidFill>
                <a:latin typeface="Neue Haas Grotesk Text Pro"/>
                <a:cs typeface="Arial"/>
              </a:rPr>
              <a:t>12 cech win mających wpływ na jakość:</a:t>
            </a:r>
          </a:p>
          <a:p>
            <a:pPr lvl="1">
              <a:buFont typeface="Wingdings,Sans-Serif" panose="020B0604020202020204" pitchFamily="34" charset="0"/>
              <a:buChar char="§"/>
            </a:pPr>
            <a:r>
              <a:rPr lang="pl-PL" dirty="0">
                <a:solidFill>
                  <a:srgbClr val="FFFFFF"/>
                </a:solidFill>
                <a:latin typeface="Neue Haas Grotesk Text Pro"/>
                <a:cs typeface="Arial"/>
              </a:rPr>
              <a:t>Kwasowość stała</a:t>
            </a:r>
            <a:endParaRPr lang="en-US" dirty="0">
              <a:solidFill>
                <a:srgbClr val="FFFFFF"/>
              </a:solidFill>
              <a:latin typeface="Neue Haas Grotesk Text Pro"/>
              <a:cs typeface="Arial"/>
            </a:endParaRPr>
          </a:p>
          <a:p>
            <a:pPr lvl="1">
              <a:buFont typeface="Wingdings,Sans-Serif" panose="020B0604020202020204" pitchFamily="34" charset="0"/>
              <a:buChar char="§"/>
            </a:pPr>
            <a:r>
              <a:rPr lang="pl-PL" dirty="0">
                <a:solidFill>
                  <a:srgbClr val="FFFFFF"/>
                </a:solidFill>
                <a:latin typeface="Neue Haas Grotesk Text Pro"/>
                <a:cs typeface="Arial"/>
              </a:rPr>
              <a:t>Kwasowość lotna</a:t>
            </a:r>
            <a:endParaRPr lang="en-US" dirty="0">
              <a:solidFill>
                <a:srgbClr val="FFFFFF"/>
              </a:solidFill>
              <a:latin typeface="Neue Haas Grotesk Text Pro"/>
              <a:cs typeface="Arial"/>
            </a:endParaRPr>
          </a:p>
          <a:p>
            <a:pPr lvl="1">
              <a:buFont typeface="Wingdings,Sans-Serif" panose="020B0604020202020204" pitchFamily="34" charset="0"/>
              <a:buChar char="§"/>
            </a:pPr>
            <a:r>
              <a:rPr lang="pl-PL" dirty="0">
                <a:solidFill>
                  <a:srgbClr val="FFFFFF"/>
                </a:solidFill>
                <a:latin typeface="Neue Haas Grotesk Text Pro"/>
                <a:cs typeface="Arial"/>
              </a:rPr>
              <a:t>Kwas cytrynowy</a:t>
            </a:r>
            <a:endParaRPr lang="en-US" dirty="0">
              <a:solidFill>
                <a:srgbClr val="FFFFFF"/>
              </a:solidFill>
              <a:latin typeface="Neue Haas Grotesk Text Pro"/>
              <a:cs typeface="Arial"/>
            </a:endParaRPr>
          </a:p>
          <a:p>
            <a:pPr lvl="1">
              <a:buFont typeface="Wingdings,Sans-Serif" panose="020B0604020202020204" pitchFamily="34" charset="0"/>
              <a:buChar char="§"/>
            </a:pPr>
            <a:r>
              <a:rPr lang="pl-PL" dirty="0">
                <a:solidFill>
                  <a:srgbClr val="FFFFFF"/>
                </a:solidFill>
                <a:latin typeface="Neue Haas Grotesk Text Pro"/>
                <a:cs typeface="Arial"/>
              </a:rPr>
              <a:t>Cukier resztkowy</a:t>
            </a:r>
            <a:endParaRPr lang="en-US" dirty="0">
              <a:solidFill>
                <a:srgbClr val="FFFFFF"/>
              </a:solidFill>
              <a:latin typeface="Neue Haas Grotesk Text Pro"/>
              <a:cs typeface="Arial"/>
            </a:endParaRPr>
          </a:p>
          <a:p>
            <a:pPr lvl="1">
              <a:buFont typeface="Wingdings,Sans-Serif" panose="020B0604020202020204" pitchFamily="34" charset="0"/>
              <a:buChar char="§"/>
            </a:pPr>
            <a:r>
              <a:rPr lang="pl-PL" dirty="0">
                <a:solidFill>
                  <a:srgbClr val="FFFFFF"/>
                </a:solidFill>
                <a:latin typeface="Neue Haas Grotesk Text Pro"/>
                <a:cs typeface="Arial"/>
              </a:rPr>
              <a:t>Chlorki</a:t>
            </a:r>
            <a:endParaRPr lang="en-US" dirty="0">
              <a:solidFill>
                <a:srgbClr val="FFFFFF"/>
              </a:solidFill>
              <a:latin typeface="Neue Haas Grotesk Text Pro"/>
              <a:cs typeface="Arial"/>
            </a:endParaRPr>
          </a:p>
          <a:p>
            <a:pPr lvl="1">
              <a:buFont typeface="Wingdings,Sans-Serif" panose="020B0604020202020204" pitchFamily="34" charset="0"/>
              <a:buChar char="§"/>
            </a:pPr>
            <a:r>
              <a:rPr lang="pl-PL" dirty="0">
                <a:solidFill>
                  <a:srgbClr val="FFFFFF"/>
                </a:solidFill>
                <a:latin typeface="Neue Haas Grotesk Text Pro"/>
                <a:cs typeface="Arial"/>
              </a:rPr>
              <a:t>Wolny dwutlenek siarki</a:t>
            </a:r>
            <a:endParaRPr lang="en-US" dirty="0">
              <a:solidFill>
                <a:srgbClr val="FFFFFF"/>
              </a:solidFill>
              <a:latin typeface="Neue Haas Grotesk Text Pro"/>
              <a:cs typeface="Arial"/>
            </a:endParaRPr>
          </a:p>
          <a:p>
            <a:pPr lvl="1">
              <a:buFont typeface="Wingdings,Sans-Serif" panose="020B0604020202020204" pitchFamily="34" charset="0"/>
              <a:buChar char="§"/>
            </a:pPr>
            <a:r>
              <a:rPr lang="pl-PL" dirty="0">
                <a:solidFill>
                  <a:srgbClr val="FFFFFF"/>
                </a:solidFill>
                <a:latin typeface="Neue Haas Grotesk Text Pro"/>
                <a:cs typeface="Arial"/>
              </a:rPr>
              <a:t>Całkowity dwutlenek siarki</a:t>
            </a:r>
            <a:endParaRPr lang="en-US" dirty="0">
              <a:solidFill>
                <a:srgbClr val="FFFFFF"/>
              </a:solidFill>
              <a:latin typeface="Neue Haas Grotesk Text Pro"/>
              <a:cs typeface="Arial"/>
            </a:endParaRPr>
          </a:p>
          <a:p>
            <a:pPr lvl="1">
              <a:buFont typeface="Wingdings,Sans-Serif" panose="020B0604020202020204" pitchFamily="34" charset="0"/>
              <a:buChar char="§"/>
            </a:pPr>
            <a:r>
              <a:rPr lang="pl-PL" dirty="0">
                <a:solidFill>
                  <a:srgbClr val="FFFFFF"/>
                </a:solidFill>
                <a:latin typeface="Neue Haas Grotesk Text Pro"/>
                <a:cs typeface="Arial"/>
              </a:rPr>
              <a:t>Gęstość</a:t>
            </a:r>
            <a:endParaRPr lang="en-US" dirty="0">
              <a:solidFill>
                <a:srgbClr val="FFFFFF"/>
              </a:solidFill>
              <a:latin typeface="Neue Haas Grotesk Text Pro"/>
              <a:cs typeface="Arial"/>
            </a:endParaRPr>
          </a:p>
          <a:p>
            <a:pPr lvl="1">
              <a:buFont typeface="Wingdings,Sans-Serif" panose="020B0604020202020204" pitchFamily="34" charset="0"/>
              <a:buChar char="§"/>
            </a:pPr>
            <a:r>
              <a:rPr lang="pl-PL" dirty="0" err="1">
                <a:solidFill>
                  <a:srgbClr val="FFFFFF"/>
                </a:solidFill>
                <a:latin typeface="Neue Haas Grotesk Text Pro"/>
                <a:cs typeface="Arial"/>
              </a:rPr>
              <a:t>pH</a:t>
            </a:r>
            <a:endParaRPr lang="pl-PL">
              <a:solidFill>
                <a:srgbClr val="FFFFFF"/>
              </a:solidFill>
              <a:latin typeface="Neue Haas Grotesk Text Pro"/>
              <a:cs typeface="Arial"/>
            </a:endParaRPr>
          </a:p>
          <a:p>
            <a:pPr lvl="1">
              <a:buFont typeface="Wingdings,Sans-Serif" panose="020B0604020202020204" pitchFamily="34" charset="0"/>
              <a:buChar char="§"/>
            </a:pPr>
            <a:r>
              <a:rPr lang="pl-PL" dirty="0">
                <a:solidFill>
                  <a:srgbClr val="FFFFFF"/>
                </a:solidFill>
                <a:latin typeface="Neue Haas Grotesk Text Pro"/>
                <a:cs typeface="Arial"/>
              </a:rPr>
              <a:t>Siarczany</a:t>
            </a:r>
            <a:endParaRPr lang="en-US" dirty="0">
              <a:solidFill>
                <a:srgbClr val="FFFFFF"/>
              </a:solidFill>
              <a:latin typeface="Neue Haas Grotesk Text Pro"/>
              <a:cs typeface="Arial"/>
            </a:endParaRPr>
          </a:p>
          <a:p>
            <a:pPr lvl="1">
              <a:buFont typeface="Wingdings,Sans-Serif" panose="020B0604020202020204" pitchFamily="34" charset="0"/>
              <a:buChar char="§"/>
            </a:pPr>
            <a:r>
              <a:rPr lang="pl-PL" dirty="0">
                <a:solidFill>
                  <a:srgbClr val="FFFFFF"/>
                </a:solidFill>
                <a:latin typeface="Neue Haas Grotesk Text Pro"/>
                <a:cs typeface="Arial"/>
              </a:rPr>
              <a:t>Alkohol</a:t>
            </a:r>
            <a:endParaRPr lang="en-US" dirty="0">
              <a:solidFill>
                <a:srgbClr val="FFFFFF"/>
              </a:solidFill>
              <a:latin typeface="Neue Haas Grotesk Text Pro"/>
              <a:cs typeface="Arial"/>
            </a:endParaRPr>
          </a:p>
          <a:p>
            <a:pPr lvl="1">
              <a:buFont typeface="Wingdings,Sans-Serif" panose="020B0604020202020204" pitchFamily="34" charset="0"/>
              <a:buChar char="§"/>
            </a:pPr>
            <a:r>
              <a:rPr lang="pl-PL" dirty="0">
                <a:solidFill>
                  <a:srgbClr val="FFFFFF"/>
                </a:solidFill>
                <a:latin typeface="Neue Haas Grotesk Text Pro"/>
                <a:cs typeface="Arial"/>
              </a:rPr>
              <a:t>Typ   </a:t>
            </a:r>
            <a:endParaRPr lang="en-US" dirty="0">
              <a:solidFill>
                <a:srgbClr val="FFFFFF"/>
              </a:solidFill>
              <a:latin typeface="Neue Haas Grotesk Text Pro"/>
              <a:cs typeface="Arial"/>
            </a:endParaRPr>
          </a:p>
          <a:p>
            <a:r>
              <a:rPr lang="pl-PL" dirty="0">
                <a:solidFill>
                  <a:srgbClr val="FFFFFF"/>
                </a:solidFill>
                <a:latin typeface="Neue Haas Grotesk Text Pro"/>
                <a:cs typeface="Arial"/>
              </a:rPr>
              <a:t>Standard </a:t>
            </a:r>
            <a:r>
              <a:rPr lang="pl-PL" dirty="0" err="1">
                <a:solidFill>
                  <a:srgbClr val="FFFFFF"/>
                </a:solidFill>
                <a:latin typeface="Neue Haas Grotesk Text Pro"/>
                <a:cs typeface="Arial"/>
              </a:rPr>
              <a:t>Scaler</a:t>
            </a:r>
            <a:endParaRPr lang="pl-PL">
              <a:solidFill>
                <a:srgbClr val="FFFFFF"/>
              </a:solidFill>
              <a:latin typeface="Neue Haas Grotesk Text Pro"/>
              <a:cs typeface="Arial"/>
            </a:endParaRPr>
          </a:p>
          <a:p>
            <a:pPr marL="228600" lvl="1" indent="0">
              <a:buNone/>
            </a:pPr>
            <a:endParaRPr lang="pl-PL">
              <a:solidFill>
                <a:srgbClr val="FFFFFF"/>
              </a:solidFill>
              <a:latin typeface="Neue Haas Grotesk Text Pro"/>
              <a:cs typeface="Arial"/>
            </a:endParaRPr>
          </a:p>
          <a:p>
            <a:pPr marL="514350" lvl="1" indent="-285750">
              <a:buFont typeface="Wingdings" panose="020B0504020202020204" pitchFamily="34" charset="0"/>
              <a:buChar char="§"/>
            </a:pPr>
            <a:endParaRPr lang="pl-PL">
              <a:solidFill>
                <a:srgbClr val="FFFFFF"/>
              </a:solidFill>
              <a:latin typeface="Neue Haas Grotesk Text Pro"/>
              <a:cs typeface="Arial"/>
            </a:endParaRPr>
          </a:p>
          <a:p>
            <a:endParaRPr lang="pl-PL">
              <a:solidFill>
                <a:srgbClr val="FFFFFF"/>
              </a:solidFill>
              <a:latin typeface="Neue Haas Grotesk Text Pro"/>
              <a:cs typeface="Arial"/>
            </a:endParaRPr>
          </a:p>
          <a:p>
            <a:endParaRPr lang="pl-PL">
              <a:solidFill>
                <a:srgbClr val="FFFFFF"/>
              </a:solidFill>
              <a:latin typeface="Neue Haas Grotesk Text Pro"/>
              <a:cs typeface="Arial"/>
            </a:endParaRP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6D3DE96B-355C-00FB-329C-03E129D7A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96519-E62D-4F8C-AE1E-36928EC7D15C}" type="datetime1">
              <a:rPr lang="en-US" smtClean="0"/>
              <a:t>10/11/2025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7B5F78C-DC42-4547-F02B-B83247904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Słudzy Bachusa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ABB6439-2460-1CE2-7D8C-D88578441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7</a:t>
            </a:fld>
            <a:endParaRPr lang="en-US"/>
          </a:p>
        </p:txBody>
      </p:sp>
      <p:pic>
        <p:nvPicPr>
          <p:cNvPr id="8" name="Obraz 7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13E6BA53-EFDE-6BA8-6444-8BD232A256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696" y="2105994"/>
            <a:ext cx="5242502" cy="4120200"/>
          </a:xfrm>
          <a:prstGeom prst="rect">
            <a:avLst/>
          </a:prstGeom>
        </p:spPr>
      </p:pic>
      <p:sp>
        <p:nvSpPr>
          <p:cNvPr id="9" name="Prostokąt 8">
            <a:extLst>
              <a:ext uri="{FF2B5EF4-FFF2-40B4-BE49-F238E27FC236}">
                <a16:creationId xmlns:a16="http://schemas.microsoft.com/office/drawing/2014/main" id="{51819EED-4AEB-B923-C9C3-A6435D60C967}"/>
              </a:ext>
            </a:extLst>
          </p:cNvPr>
          <p:cNvSpPr/>
          <p:nvPr/>
        </p:nvSpPr>
        <p:spPr>
          <a:xfrm>
            <a:off x="230963" y="57740"/>
            <a:ext cx="923855" cy="3031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22634094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38BB152-6D68-F429-B7BE-B92E1850AB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9826" y="2110746"/>
            <a:ext cx="2833703" cy="1438780"/>
          </a:xfrm>
        </p:spPr>
        <p:txBody>
          <a:bodyPr>
            <a:normAutofit fontScale="90000"/>
          </a:bodyPr>
          <a:lstStyle/>
          <a:p>
            <a:pPr algn="ctr"/>
            <a:br>
              <a:rPr lang="pl-PL"/>
            </a:br>
            <a:br>
              <a:rPr lang="pl-PL"/>
            </a:br>
            <a:br>
              <a:rPr lang="pl-PL"/>
            </a:br>
            <a:r>
              <a:rPr lang="pl-PL">
                <a:ea typeface="+mj-lt"/>
                <a:cs typeface="+mj-lt"/>
              </a:rPr>
              <a:t>Chemia między danymi</a:t>
            </a:r>
            <a:r>
              <a:rPr lang="pl-PL" b="0">
                <a:ea typeface="+mj-lt"/>
                <a:cs typeface="+mj-lt"/>
              </a:rPr>
              <a:t> ⚗️✨</a:t>
            </a:r>
            <a:br>
              <a:rPr lang="pl-PL" b="0"/>
            </a:br>
            <a:r>
              <a:rPr lang="pl-PL"/>
              <a:t> </a:t>
            </a:r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779BF87-6E06-A6D3-3A0D-E67C223BFB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96519-E62D-4F8C-AE1E-36928EC7D15C}" type="datetime1">
              <a:rPr lang="en-US" smtClean="0"/>
              <a:t>10/11/2025</a:t>
            </a:fld>
            <a:endParaRPr lang="en-US"/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3F387753-5933-AB46-8155-2872420BF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8</a:t>
            </a:fld>
            <a:endParaRPr lang="en-US"/>
          </a:p>
        </p:txBody>
      </p:sp>
      <p:pic>
        <p:nvPicPr>
          <p:cNvPr id="10" name="Symbol zastępczy zawartości 9" descr="Obraz zawierający wzór, zrzut ekranu, tekst, kwadrat&#10;&#10;Zawartość wygenerowana przez AI może być niepoprawna.">
            <a:extLst>
              <a:ext uri="{FF2B5EF4-FFF2-40B4-BE49-F238E27FC236}">
                <a16:creationId xmlns:a16="http://schemas.microsoft.com/office/drawing/2014/main" id="{1B7F716E-905D-F616-B2E0-6F861FF1309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39659" y="244899"/>
            <a:ext cx="8621215" cy="6189798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Symbol zastępczy stopki 2">
            <a:extLst>
              <a:ext uri="{FF2B5EF4-FFF2-40B4-BE49-F238E27FC236}">
                <a16:creationId xmlns:a16="http://schemas.microsoft.com/office/drawing/2014/main" id="{F36F3903-2F88-EBFA-AE9F-3CB4042F9C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Słudzy Bachusa</a:t>
            </a:r>
            <a:endParaRPr lang="pl-PL"/>
          </a:p>
        </p:txBody>
      </p:sp>
      <p:sp>
        <p:nvSpPr>
          <p:cNvPr id="5" name="Prostokąt 4">
            <a:extLst>
              <a:ext uri="{FF2B5EF4-FFF2-40B4-BE49-F238E27FC236}">
                <a16:creationId xmlns:a16="http://schemas.microsoft.com/office/drawing/2014/main" id="{864A421D-C417-7492-0F53-2F906264C1B5}"/>
              </a:ext>
            </a:extLst>
          </p:cNvPr>
          <p:cNvSpPr/>
          <p:nvPr/>
        </p:nvSpPr>
        <p:spPr>
          <a:xfrm>
            <a:off x="230963" y="57740"/>
            <a:ext cx="923855" cy="3031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070586AA-1B93-D6EA-41EF-E83F611FAA00}"/>
              </a:ext>
            </a:extLst>
          </p:cNvPr>
          <p:cNvSpPr txBox="1"/>
          <p:nvPr/>
        </p:nvSpPr>
        <p:spPr>
          <a:xfrm>
            <a:off x="507813" y="3541374"/>
            <a:ext cx="2824033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l-PL"/>
              <a:t>czyli wykres korelacji</a:t>
            </a:r>
          </a:p>
        </p:txBody>
      </p:sp>
    </p:spTree>
    <p:extLst>
      <p:ext uri="{BB962C8B-B14F-4D97-AF65-F5344CB8AC3E}">
        <p14:creationId xmlns:p14="http://schemas.microsoft.com/office/powerpoint/2010/main" val="40244469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4" name="Rectangle 43">
            <a:extLst>
              <a:ext uri="{FF2B5EF4-FFF2-40B4-BE49-F238E27FC236}">
                <a16:creationId xmlns:a16="http://schemas.microsoft.com/office/drawing/2014/main" id="{23D8FF62-652A-F48D-7206-16657E0B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D09FC57-A12F-3F1D-F991-260D4E51E3B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0137" y="63202"/>
            <a:ext cx="2743200" cy="318221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spcAft>
                <a:spcPts val="600"/>
              </a:spcAft>
            </a:pPr>
            <a:fld id="{0F996519-E62D-4F8C-AE1E-36928EC7D15C}" type="datetime1">
              <a:rPr lang="en-US"/>
              <a:pPr>
                <a:spcAft>
                  <a:spcPts val="600"/>
                </a:spcAft>
              </a:pPr>
              <a:t>10/11/2025</a:t>
            </a:fld>
            <a:endParaRPr lang="en-US"/>
          </a:p>
        </p:txBody>
      </p:sp>
      <p:pic>
        <p:nvPicPr>
          <p:cNvPr id="23" name="Symbol zastępczy zawartości 22" descr="Obraz zawierający tekst, zrzut ekranu, Czcionka, menu&#10;&#10;Zawartość wygenerowana przez AI może być niepoprawna.">
            <a:extLst>
              <a:ext uri="{FF2B5EF4-FFF2-40B4-BE49-F238E27FC236}">
                <a16:creationId xmlns:a16="http://schemas.microsoft.com/office/drawing/2014/main" id="{0D5A7774-68D0-6354-F932-00D71A35651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3029" y="611548"/>
            <a:ext cx="5405108" cy="5999887"/>
          </a:xfrm>
          <a:prstGeom prst="rect">
            <a:avLst/>
          </a:prstGeom>
        </p:spPr>
      </p:pic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1AC9267-D358-76B1-027F-548AF7212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44016" y="6424761"/>
            <a:ext cx="4059936" cy="365125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spcAft>
                <a:spcPts val="600"/>
              </a:spcAft>
            </a:pPr>
            <a:r>
              <a:rPr lang="en-US" b="0" kern="1200" cap="all" spc="0" baseline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Słudzy Bachusa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1727012-AABC-CAC4-86D9-CE83A9EAF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3951" y="6425816"/>
            <a:ext cx="429768" cy="365125"/>
          </a:xfrm>
        </p:spPr>
        <p:txBody>
          <a:bodyPr vert="horz" lIns="91440" tIns="45720" rIns="91440" bIns="45720" rtlCol="0">
            <a:normAutofit/>
          </a:bodyPr>
          <a:lstStyle/>
          <a:p>
            <a:pPr>
              <a:spcAft>
                <a:spcPts val="600"/>
              </a:spcAft>
            </a:pPr>
            <a:fld id="{6E91CC32-6A6B-4E2E-BBA1-6864F305DA26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9</a:t>
            </a:fld>
            <a:endParaRPr lang="en-US">
              <a:solidFill>
                <a:srgbClr val="FFFFFF"/>
              </a:solidFill>
            </a:endParaRPr>
          </a:p>
        </p:txBody>
      </p:sp>
      <p:pic>
        <p:nvPicPr>
          <p:cNvPr id="34" name="Obraz 33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732998C1-8226-5D6D-A446-0B4F4FD170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8658" y="754591"/>
            <a:ext cx="5689600" cy="5846233"/>
          </a:xfrm>
          <a:prstGeom prst="rect">
            <a:avLst/>
          </a:prstGeom>
        </p:spPr>
      </p:pic>
      <p:sp>
        <p:nvSpPr>
          <p:cNvPr id="39" name="Tytuł 1">
            <a:extLst>
              <a:ext uri="{FF2B5EF4-FFF2-40B4-BE49-F238E27FC236}">
                <a16:creationId xmlns:a16="http://schemas.microsoft.com/office/drawing/2014/main" id="{3F199D38-05AD-3368-CC4C-4FCDF5FEC018}"/>
              </a:ext>
            </a:extLst>
          </p:cNvPr>
          <p:cNvSpPr txBox="1">
            <a:spLocks/>
          </p:cNvSpPr>
          <p:nvPr/>
        </p:nvSpPr>
        <p:spPr>
          <a:xfrm>
            <a:off x="592850" y="678"/>
            <a:ext cx="13064312" cy="1868798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sz="3300">
                <a:ea typeface="+mj-lt"/>
                <a:cs typeface="+mj-lt"/>
              </a:rPr>
              <a:t>Niektóre cechy rządzą smakiem, inne tylko udają</a:t>
            </a:r>
            <a:r>
              <a:rPr lang="pl-PL" sz="3300" b="0">
                <a:ea typeface="+mj-lt"/>
                <a:cs typeface="+mj-lt"/>
              </a:rPr>
              <a:t>📊🍷</a:t>
            </a:r>
            <a:endParaRPr lang="en-US" sz="3300"/>
          </a:p>
        </p:txBody>
      </p:sp>
      <p:sp>
        <p:nvSpPr>
          <p:cNvPr id="46" name="Prostokąt 45">
            <a:extLst>
              <a:ext uri="{FF2B5EF4-FFF2-40B4-BE49-F238E27FC236}">
                <a16:creationId xmlns:a16="http://schemas.microsoft.com/office/drawing/2014/main" id="{9D9306A0-7C9C-8D7C-E5AA-5C8BA25FD8A5}"/>
              </a:ext>
            </a:extLst>
          </p:cNvPr>
          <p:cNvSpPr/>
          <p:nvPr/>
        </p:nvSpPr>
        <p:spPr>
          <a:xfrm>
            <a:off x="6201833" y="5513916"/>
            <a:ext cx="4042832" cy="10900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7" name="Prostokąt 46">
            <a:extLst>
              <a:ext uri="{FF2B5EF4-FFF2-40B4-BE49-F238E27FC236}">
                <a16:creationId xmlns:a16="http://schemas.microsoft.com/office/drawing/2014/main" id="{9FF3E775-C3E4-7E34-E55D-7D5B55A049F6}"/>
              </a:ext>
            </a:extLst>
          </p:cNvPr>
          <p:cNvSpPr/>
          <p:nvPr/>
        </p:nvSpPr>
        <p:spPr>
          <a:xfrm>
            <a:off x="6201832" y="1862665"/>
            <a:ext cx="4042832" cy="10900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48" name="Prostokąt 47">
            <a:extLst>
              <a:ext uri="{FF2B5EF4-FFF2-40B4-BE49-F238E27FC236}">
                <a16:creationId xmlns:a16="http://schemas.microsoft.com/office/drawing/2014/main" id="{8282A2B2-7860-FA62-1BD3-A12B73C4FBAE}"/>
              </a:ext>
            </a:extLst>
          </p:cNvPr>
          <p:cNvSpPr/>
          <p:nvPr/>
        </p:nvSpPr>
        <p:spPr>
          <a:xfrm>
            <a:off x="317498" y="4614331"/>
            <a:ext cx="4159248" cy="109008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9559332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Symbol zastępczy zawartości 6" descr="Obraz zawierający tekst, zrzut ekranu, diagram, linia&#10;&#10;Zawartość wygenerowana przez AI może być niepoprawna.">
            <a:extLst>
              <a:ext uri="{FF2B5EF4-FFF2-40B4-BE49-F238E27FC236}">
                <a16:creationId xmlns:a16="http://schemas.microsoft.com/office/drawing/2014/main" id="{9B68382A-D1D0-B377-0EE5-D24BBB2E751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1747"/>
          <a:stretch>
            <a:fillRect/>
          </a:stretch>
        </p:blipFill>
        <p:spPr>
          <a:xfrm>
            <a:off x="283049" y="174181"/>
            <a:ext cx="11625922" cy="6509647"/>
          </a:xfrm>
          <a:prstGeom prst="roundRect">
            <a:avLst>
              <a:gd name="adj" fmla="val 16667"/>
            </a:avLst>
          </a:prstGeom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contrasting" dir="t">
              <a:rot lat="0" lon="0" rev="4200000"/>
            </a:lightRig>
          </a:scene3d>
          <a:sp3d prstMaterial="plastic">
            <a:bevelT w="381000" h="114300" prst="relaxedInset"/>
            <a:contourClr>
              <a:srgbClr val="969696"/>
            </a:contourClr>
          </a:sp3d>
        </p:spPr>
      </p:pic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F230DAB6-08E4-4062-316D-D4A7EDE80EC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0137" y="63202"/>
            <a:ext cx="2743200" cy="31822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F996519-E62D-4F8C-AE1E-36928EC7D15C}" type="datetime1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10/11/2025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550AE03-9D5C-AD27-9C2A-1BA968030F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44016" y="6424761"/>
            <a:ext cx="405993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b="0" kern="1200" cap="all" spc="0" baseline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Słudzy Bachusa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B7E74D64-85E4-04E3-01D5-2338B8A50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3951" y="6425816"/>
            <a:ext cx="429768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E91CC32-6A6B-4E2E-BBA1-6864F305DA26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10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8" name="Trójkąt prostokątny 7">
            <a:extLst>
              <a:ext uri="{FF2B5EF4-FFF2-40B4-BE49-F238E27FC236}">
                <a16:creationId xmlns:a16="http://schemas.microsoft.com/office/drawing/2014/main" id="{446BDEBD-F010-E958-9B01-35BE92A5229E}"/>
              </a:ext>
            </a:extLst>
          </p:cNvPr>
          <p:cNvSpPr/>
          <p:nvPr/>
        </p:nvSpPr>
        <p:spPr>
          <a:xfrm rot="8280000">
            <a:off x="408405" y="203120"/>
            <a:ext cx="664020" cy="239849"/>
          </a:xfrm>
          <a:prstGeom prst="rt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9" name="Prostokąt 8">
            <a:extLst>
              <a:ext uri="{FF2B5EF4-FFF2-40B4-BE49-F238E27FC236}">
                <a16:creationId xmlns:a16="http://schemas.microsoft.com/office/drawing/2014/main" id="{5A4F2CE0-B68E-B3F1-8513-3875073D430E}"/>
              </a:ext>
            </a:extLst>
          </p:cNvPr>
          <p:cNvSpPr/>
          <p:nvPr/>
        </p:nvSpPr>
        <p:spPr>
          <a:xfrm>
            <a:off x="341352" y="156453"/>
            <a:ext cx="398245" cy="12800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42498808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tangle 12">
            <a:extLst>
              <a:ext uri="{FF2B5EF4-FFF2-40B4-BE49-F238E27FC236}">
                <a16:creationId xmlns:a16="http://schemas.microsoft.com/office/drawing/2014/main" id="{80E9F74D-F55F-F7B2-75C2-14DECC31E6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5" name="Freeform: Shape 14">
            <a:extLst>
              <a:ext uri="{FF2B5EF4-FFF2-40B4-BE49-F238E27FC236}">
                <a16:creationId xmlns:a16="http://schemas.microsoft.com/office/drawing/2014/main" id="{710A2054-FB7A-EA09-5DA6-8CFF315208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8379" y="0"/>
            <a:ext cx="5058469" cy="6874453"/>
          </a:xfrm>
          <a:custGeom>
            <a:avLst/>
            <a:gdLst>
              <a:gd name="connsiteX0" fmla="*/ 679539 w 5058469"/>
              <a:gd name="connsiteY0" fmla="*/ 0 h 6874453"/>
              <a:gd name="connsiteX1" fmla="*/ 5058469 w 5058469"/>
              <a:gd name="connsiteY1" fmla="*/ 0 h 6874453"/>
              <a:gd name="connsiteX2" fmla="*/ 5058469 w 5058469"/>
              <a:gd name="connsiteY2" fmla="*/ 6874453 h 6874453"/>
              <a:gd name="connsiteX3" fmla="*/ 679539 w 5058469"/>
              <a:gd name="connsiteY3" fmla="*/ 6874453 h 6874453"/>
              <a:gd name="connsiteX4" fmla="*/ 0 w 5058469"/>
              <a:gd name="connsiteY4" fmla="*/ 6194913 h 6874453"/>
              <a:gd name="connsiteX5" fmla="*/ 0 w 5058469"/>
              <a:gd name="connsiteY5" fmla="*/ 679540 h 6874453"/>
              <a:gd name="connsiteX6" fmla="*/ 679539 w 5058469"/>
              <a:gd name="connsiteY6" fmla="*/ 0 h 68744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058469" h="6874453">
                <a:moveTo>
                  <a:pt x="679539" y="0"/>
                </a:moveTo>
                <a:lnTo>
                  <a:pt x="5058469" y="0"/>
                </a:lnTo>
                <a:lnTo>
                  <a:pt x="5058469" y="6874453"/>
                </a:lnTo>
                <a:lnTo>
                  <a:pt x="679539" y="6874453"/>
                </a:lnTo>
                <a:cubicBezTo>
                  <a:pt x="304240" y="6874453"/>
                  <a:pt x="0" y="6570213"/>
                  <a:pt x="0" y="6194913"/>
                </a:cubicBezTo>
                <a:lnTo>
                  <a:pt x="0" y="679540"/>
                </a:lnTo>
                <a:cubicBezTo>
                  <a:pt x="0" y="304240"/>
                  <a:pt x="304240" y="0"/>
                  <a:pt x="679539" y="0"/>
                </a:cubicBez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6DA33911-A8E1-2D56-97AA-E926D1AAF7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574767" y="553440"/>
            <a:ext cx="6177990" cy="2868608"/>
          </a:xfrm>
        </p:spPr>
        <p:txBody>
          <a:bodyPr anchor="t">
            <a:normAutofit/>
          </a:bodyPr>
          <a:lstStyle/>
          <a:p>
            <a:pPr algn="ctr"/>
            <a:r>
              <a:rPr lang="pl-PL" sz="3300">
                <a:ea typeface="+mj-lt"/>
                <a:cs typeface="+mj-lt"/>
              </a:rPr>
              <a:t>Od sikacza do szampana</a:t>
            </a:r>
            <a:br>
              <a:rPr lang="pl-PL" sz="3300">
                <a:ea typeface="+mj-lt"/>
                <a:cs typeface="+mj-lt"/>
              </a:rPr>
            </a:br>
            <a:r>
              <a:rPr lang="pl-PL" sz="3300">
                <a:ea typeface="+mj-lt"/>
                <a:cs typeface="+mj-lt"/>
              </a:rPr>
              <a:t>rozkład jakości</a:t>
            </a:r>
            <a:r>
              <a:rPr lang="pl-PL" sz="3300" b="0">
                <a:ea typeface="+mj-lt"/>
                <a:cs typeface="+mj-lt"/>
              </a:rPr>
              <a:t> </a:t>
            </a:r>
            <a:br>
              <a:rPr lang="pl-PL" sz="3300" b="0">
                <a:ea typeface="+mj-lt"/>
                <a:cs typeface="+mj-lt"/>
              </a:rPr>
            </a:br>
            <a:r>
              <a:rPr lang="pl-PL" sz="3300" b="0">
                <a:ea typeface="+mj-lt"/>
                <a:cs typeface="+mj-lt"/>
              </a:rPr>
              <a:t>🤢 ➡ 🥂</a:t>
            </a:r>
            <a:endParaRPr lang="pl-PL" sz="330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97E1BC78-4684-2E95-FD00-EDB0D8A5B89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0137" y="63202"/>
            <a:ext cx="2743200" cy="318221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F996519-E62D-4F8C-AE1E-36928EC7D15C}" type="datetime1">
              <a:rPr lang="en-US" smtClean="0"/>
              <a:pPr>
                <a:spcAft>
                  <a:spcPts val="600"/>
                </a:spcAft>
              </a:pPr>
              <a:t>10/11/2025</a:t>
            </a:fld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40FFD2A8-D815-B83E-214C-84A171270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414" y="2714275"/>
            <a:ext cx="4256263" cy="4327938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l-PL" sz="2000"/>
              <a:t>Skala od 3 do 9</a:t>
            </a:r>
          </a:p>
          <a:p>
            <a:r>
              <a:rPr lang="pl-PL" sz="2000"/>
              <a:t>Dane niezbalansowane - znacząca przewaga win średnich - 6</a:t>
            </a:r>
          </a:p>
          <a:p>
            <a:r>
              <a:rPr lang="pl-PL" sz="2000"/>
              <a:t>Rozkład zbliżony do rozkładu normalnego – lekko skośny w prawo</a:t>
            </a:r>
          </a:p>
          <a:p>
            <a:endParaRPr lang="pl-PL"/>
          </a:p>
        </p:txBody>
      </p:sp>
      <p:pic>
        <p:nvPicPr>
          <p:cNvPr id="8" name="Symbol zastępczy zawartości 6" descr="Obraz zawierający tekst, zrzut ekranu, diagram, Prostokąt&#10;&#10;Zawartość wygenerowana przez AI może być niepoprawna.">
            <a:extLst>
              <a:ext uri="{FF2B5EF4-FFF2-40B4-BE49-F238E27FC236}">
                <a16:creationId xmlns:a16="http://schemas.microsoft.com/office/drawing/2014/main" id="{BAF61815-8EDE-CF45-71E5-B885A3891F8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07493" y="685447"/>
            <a:ext cx="6980023" cy="5502006"/>
          </a:xfrm>
          <a:prstGeom prst="rect">
            <a:avLst/>
          </a:prstGeom>
        </p:spPr>
      </p:pic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91997F66-9481-F09C-8426-B59176D8A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44016" y="6424761"/>
            <a:ext cx="405993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>
                <a:solidFill>
                  <a:schemeClr val="bg1"/>
                </a:solidFill>
              </a:rPr>
              <a:t>Słudzy Bachusa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1FABFF2B-3573-A13E-859F-4D8B970FDE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3951" y="6425816"/>
            <a:ext cx="429768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E91CC32-6A6B-4E2E-BBA1-6864F305DA26}" type="slidenum">
              <a:rPr lang="en-US">
                <a:solidFill>
                  <a:schemeClr val="bg1"/>
                </a:solidFill>
              </a:rPr>
              <a:pPr>
                <a:spcAft>
                  <a:spcPts val="600"/>
                </a:spcAft>
              </a:pPr>
              <a:t>11</a:t>
            </a:fld>
            <a:endParaRPr 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746600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332F2A31-C129-2298-9973-26A0E0FAAE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F1285644-E50C-FE86-BEBF-B4CD3855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517" y="484765"/>
            <a:ext cx="6518472" cy="1822525"/>
          </a:xfrm>
        </p:spPr>
        <p:txBody>
          <a:bodyPr anchor="t">
            <a:normAutofit/>
          </a:bodyPr>
          <a:lstStyle/>
          <a:p>
            <a:pPr algn="ctr"/>
            <a:r>
              <a:rPr lang="pl-PL" sz="4100">
                <a:ea typeface="+mj-lt"/>
                <a:cs typeface="+mj-lt"/>
              </a:rPr>
              <a:t>Algorytm na odwyku od średnich klas⚖️</a:t>
            </a:r>
            <a:endParaRPr lang="pl-PL" sz="4100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171F5BC7-8A44-9AB8-6325-3BCDC1E70BC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0137" y="63202"/>
            <a:ext cx="2743200" cy="318221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0F996519-E62D-4F8C-AE1E-36928EC7D15C}" type="datetime1">
              <a:rPr lang="en-US" smtClean="0"/>
              <a:pPr>
                <a:spcAft>
                  <a:spcPts val="600"/>
                </a:spcAft>
              </a:pPr>
              <a:t>10/11/2025</a:t>
            </a:fld>
            <a:endParaRPr lang="en-US"/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54731346-8C87-5966-B5EF-6A4470FFC2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6050" y="2419880"/>
            <a:ext cx="5548028" cy="3547872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pl-PL" sz="2000">
                <a:ea typeface="+mn-lt"/>
                <a:cs typeface="+mn-lt"/>
              </a:rPr>
              <a:t>Dobór </a:t>
            </a:r>
            <a:r>
              <a:rPr lang="pl-PL" sz="2000" err="1">
                <a:ea typeface="+mn-lt"/>
                <a:cs typeface="+mn-lt"/>
              </a:rPr>
              <a:t>scoringu</a:t>
            </a:r>
            <a:r>
              <a:rPr lang="pl-PL" sz="2000">
                <a:ea typeface="+mn-lt"/>
                <a:cs typeface="+mn-lt"/>
              </a:rPr>
              <a:t>: F1-macro </a:t>
            </a:r>
          </a:p>
          <a:p>
            <a:r>
              <a:rPr lang="pl-PL" sz="2000">
                <a:ea typeface="+mn-lt"/>
                <a:cs typeface="+mn-lt"/>
              </a:rPr>
              <a:t>Strojenie </a:t>
            </a:r>
            <a:r>
              <a:rPr lang="pl-PL" sz="2000" err="1">
                <a:ea typeface="+mn-lt"/>
                <a:cs typeface="+mn-lt"/>
              </a:rPr>
              <a:t>hiperparametrów</a:t>
            </a:r>
            <a:endParaRPr lang="pl-PL" sz="2000">
              <a:ea typeface="+mn-lt"/>
              <a:cs typeface="+mn-lt"/>
            </a:endParaRPr>
          </a:p>
          <a:p>
            <a:r>
              <a:rPr lang="pl-PL" sz="2000">
                <a:ea typeface="+mn-lt"/>
                <a:cs typeface="+mn-lt"/>
              </a:rPr>
              <a:t>Ważenie klas – większa waga dla rzadkich ocen</a:t>
            </a:r>
            <a:endParaRPr lang="pl-PL" sz="2000"/>
          </a:p>
          <a:p>
            <a:r>
              <a:rPr lang="pl-PL" sz="2000">
                <a:ea typeface="+mn-lt"/>
                <a:cs typeface="+mn-lt"/>
              </a:rPr>
              <a:t>Redukcja liczby klas (scalenie skrajnych)</a:t>
            </a:r>
            <a:endParaRPr lang="pl-PL" sz="2000"/>
          </a:p>
          <a:p>
            <a:r>
              <a:rPr lang="pl-PL" sz="2000">
                <a:ea typeface="+mn-lt"/>
                <a:cs typeface="+mn-lt"/>
              </a:rPr>
              <a:t>SMOTE</a:t>
            </a:r>
          </a:p>
          <a:p>
            <a:endParaRPr lang="pl-PL"/>
          </a:p>
        </p:txBody>
      </p:sp>
      <p:pic>
        <p:nvPicPr>
          <p:cNvPr id="7" name="Obraz 6" descr="Obraz zawierający wino, napój, Naczynia szklane, Kieliszek na wino&#10;&#10;Zawartość wygenerowana przez AI może być niepoprawna.">
            <a:extLst>
              <a:ext uri="{FF2B5EF4-FFF2-40B4-BE49-F238E27FC236}">
                <a16:creationId xmlns:a16="http://schemas.microsoft.com/office/drawing/2014/main" id="{02A498F7-2AD4-69AC-7F64-FB36C8A7E5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567" r="2" b="2"/>
          <a:stretch>
            <a:fillRect/>
          </a:stretch>
        </p:blipFill>
        <p:spPr>
          <a:xfrm>
            <a:off x="7156290" y="78539"/>
            <a:ext cx="4963886" cy="6700922"/>
          </a:xfrm>
          <a:custGeom>
            <a:avLst/>
            <a:gdLst/>
            <a:ahLst/>
            <a:cxnLst/>
            <a:rect l="l" t="t" r="r" b="b"/>
            <a:pathLst>
              <a:path w="4963886" h="6700922">
                <a:moveTo>
                  <a:pt x="678017" y="0"/>
                </a:moveTo>
                <a:lnTo>
                  <a:pt x="4285869" y="0"/>
                </a:lnTo>
                <a:cubicBezTo>
                  <a:pt x="4660327" y="0"/>
                  <a:pt x="4963886" y="303559"/>
                  <a:pt x="4963886" y="678017"/>
                </a:cubicBezTo>
                <a:lnTo>
                  <a:pt x="4963886" y="6022905"/>
                </a:lnTo>
                <a:cubicBezTo>
                  <a:pt x="4963886" y="6397363"/>
                  <a:pt x="4660327" y="6700922"/>
                  <a:pt x="4285869" y="6700922"/>
                </a:cubicBezTo>
                <a:lnTo>
                  <a:pt x="678017" y="6700922"/>
                </a:lnTo>
                <a:cubicBezTo>
                  <a:pt x="303559" y="6700922"/>
                  <a:pt x="0" y="6397363"/>
                  <a:pt x="0" y="6022905"/>
                </a:cubicBezTo>
                <a:lnTo>
                  <a:pt x="0" y="678017"/>
                </a:lnTo>
                <a:cubicBezTo>
                  <a:pt x="0" y="303559"/>
                  <a:pt x="303559" y="0"/>
                  <a:pt x="678017" y="0"/>
                </a:cubicBezTo>
                <a:close/>
              </a:path>
            </a:pathLst>
          </a:custGeom>
        </p:spPr>
      </p:pic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33F48D9D-3FDE-046D-1737-4FE9707BBE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44016" y="6424761"/>
            <a:ext cx="4059936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US">
                <a:solidFill>
                  <a:srgbClr val="FFFFFF"/>
                </a:solidFill>
              </a:rPr>
              <a:t>Słudzy Bachusa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65D90B0D-C817-92D6-EA73-91CD30871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3951" y="6425816"/>
            <a:ext cx="429768" cy="36512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fld id="{6E91CC32-6A6B-4E2E-BBA1-6864F305DA26}" type="slidenum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12</a:t>
            </a:fld>
            <a:endParaRPr lang="en-US">
              <a:solidFill>
                <a:srgbClr val="FFFFF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61044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2F1CA28D-DA9F-BE33-7EAE-3CAFE7D2E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96519-E62D-4F8C-AE1E-36928EC7D15C}" type="datetime1">
              <a:rPr lang="en-US" smtClean="0"/>
              <a:t>10/11/2025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0F230E2-EC40-4750-3186-FD9F583AE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Słudzy Bachusa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091C1EA7-3D58-86BF-C31D-CCB6AC2A1F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13</a:t>
            </a:fld>
            <a:endParaRPr lang="en-US"/>
          </a:p>
        </p:txBody>
      </p:sp>
      <p:sp>
        <p:nvSpPr>
          <p:cNvPr id="9" name="Tytuł 1">
            <a:extLst>
              <a:ext uri="{FF2B5EF4-FFF2-40B4-BE49-F238E27FC236}">
                <a16:creationId xmlns:a16="http://schemas.microsoft.com/office/drawing/2014/main" id="{923D5077-CFE3-3D08-5233-D6D9B3DE2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6189" y="214118"/>
            <a:ext cx="10816718" cy="792895"/>
          </a:xfrm>
        </p:spPr>
        <p:txBody>
          <a:bodyPr>
            <a:normAutofit/>
          </a:bodyPr>
          <a:lstStyle/>
          <a:p>
            <a:r>
              <a:rPr lang="pl-PL" sz="4000" err="1"/>
              <a:t>XGBoost</a:t>
            </a:r>
            <a:r>
              <a:rPr lang="pl-PL" sz="4000"/>
              <a:t> SMOTE- raport klasyfikacji</a:t>
            </a:r>
            <a:r>
              <a:rPr lang="pl-PL" sz="4000" b="0">
                <a:ea typeface="+mj-lt"/>
                <a:cs typeface="+mj-lt"/>
              </a:rPr>
              <a:t>📊 </a:t>
            </a:r>
            <a:endParaRPr lang="pl-PL" err="1"/>
          </a:p>
        </p:txBody>
      </p:sp>
      <p:sp>
        <p:nvSpPr>
          <p:cNvPr id="11" name="Prostokąt 10">
            <a:extLst>
              <a:ext uri="{FF2B5EF4-FFF2-40B4-BE49-F238E27FC236}">
                <a16:creationId xmlns:a16="http://schemas.microsoft.com/office/drawing/2014/main" id="{B6D59461-0322-94E9-3F29-DC667658AF9B}"/>
              </a:ext>
            </a:extLst>
          </p:cNvPr>
          <p:cNvSpPr/>
          <p:nvPr/>
        </p:nvSpPr>
        <p:spPr>
          <a:xfrm>
            <a:off x="230963" y="57740"/>
            <a:ext cx="923855" cy="3031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pic>
        <p:nvPicPr>
          <p:cNvPr id="3" name="Obraz 2" descr="Obraz zawierający tekst, zrzut ekranu, Czcionka&#10;&#10;Zawartość wygenerowana przez AI może być niepoprawna.">
            <a:extLst>
              <a:ext uri="{FF2B5EF4-FFF2-40B4-BE49-F238E27FC236}">
                <a16:creationId xmlns:a16="http://schemas.microsoft.com/office/drawing/2014/main" id="{55A91E1E-AFFA-27AC-378A-81046A60CC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0878" y="1235017"/>
            <a:ext cx="6330244" cy="5037078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153018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Obraz 12">
            <a:extLst>
              <a:ext uri="{FF2B5EF4-FFF2-40B4-BE49-F238E27FC236}">
                <a16:creationId xmlns:a16="http://schemas.microsoft.com/office/drawing/2014/main" id="{11801CB9-C6C3-5893-74CA-B9659EAF67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817" y="3469569"/>
            <a:ext cx="3737329" cy="3390192"/>
          </a:xfrm>
          <a:prstGeom prst="rect">
            <a:avLst/>
          </a:prstGeom>
          <a:ln w="57150">
            <a:noFill/>
          </a:ln>
        </p:spPr>
      </p:pic>
      <p:pic>
        <p:nvPicPr>
          <p:cNvPr id="10" name="Symbol zastępczy zawartości 7" descr="Obraz zawierający tekst, zrzut ekranu, diagram, numer&#10;&#10;Zawartość wygenerowana przez AI może być niepoprawna.">
            <a:extLst>
              <a:ext uri="{FF2B5EF4-FFF2-40B4-BE49-F238E27FC236}">
                <a16:creationId xmlns:a16="http://schemas.microsoft.com/office/drawing/2014/main" id="{A2F98B8B-2D41-E2F7-BCAA-89620DE524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35484" y="3463400"/>
            <a:ext cx="3613925" cy="3393946"/>
          </a:xfrm>
          <a:prstGeom prst="rect">
            <a:avLst/>
          </a:prstGeom>
          <a:solidFill>
            <a:srgbClr val="FFFFFF"/>
          </a:solidFill>
          <a:ln w="57150">
            <a:noFill/>
          </a:ln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417CDA24-35F8-4540-8C52-3096D6D949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50280" y="0"/>
            <a:ext cx="9144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Symbol zastępczy zawartości 8" descr="Obraz zawierający tekst, zrzut ekranu, diagram, numer&#10;&#10;Zawartość wygenerowana przez AI może być niepoprawna.">
            <a:extLst>
              <a:ext uri="{FF2B5EF4-FFF2-40B4-BE49-F238E27FC236}">
                <a16:creationId xmlns:a16="http://schemas.microsoft.com/office/drawing/2014/main" id="{82B07302-C997-16FF-A69B-B1A4B9FDAC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4110" y="1474"/>
            <a:ext cx="3594701" cy="3357951"/>
          </a:xfrm>
          <a:prstGeom prst="rect">
            <a:avLst/>
          </a:prstGeom>
          <a:solidFill>
            <a:srgbClr val="FFFFFF"/>
          </a:solidFill>
          <a:scene3d>
            <a:camera prst="orthographicFront"/>
            <a:lightRig rig="threePt" dir="t">
              <a:rot lat="0" lon="0" rev="2700000"/>
            </a:lightRig>
          </a:scene3d>
          <a:sp3d>
            <a:bevelT h="38100"/>
            <a:contourClr>
              <a:srgbClr val="C0C0C0"/>
            </a:contourClr>
          </a:sp3d>
        </p:spPr>
      </p:pic>
      <p:sp>
        <p:nvSpPr>
          <p:cNvPr id="21" name="Rectangle 20">
            <a:extLst>
              <a:ext uri="{FF2B5EF4-FFF2-40B4-BE49-F238E27FC236}">
                <a16:creationId xmlns:a16="http://schemas.microsoft.com/office/drawing/2014/main" id="{8658BFE0-4E65-4174-9C75-687C94E882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FA75DFED-A0C1-4A83-BE1D-0271C1826E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065520" y="3383280"/>
            <a:ext cx="6126480" cy="9144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EBE9E4BC-5E9F-F7A1-5F05-FF197BAFC22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308034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F996519-E62D-4F8C-AE1E-36928EC7D15C}" type="datetime1">
              <a:rPr lang="en-US" sz="1200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10/11/2025</a:t>
            </a:fld>
            <a:endParaRPr lang="en-US" sz="120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57E02E20-DC44-473B-5932-55A98C554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E91CC32-6A6B-4E2E-BBA1-6864F305DA26}" type="slidenum">
              <a:rPr lang="en-US" sz="1200" smtClean="0">
                <a:solidFill>
                  <a:schemeClr val="tx1">
                    <a:tint val="75000"/>
                  </a:schemeClr>
                </a:solidFill>
              </a:rPr>
              <a:pPr>
                <a:spcAft>
                  <a:spcPts val="600"/>
                </a:spcAft>
              </a:pPr>
              <a:t>14</a:t>
            </a:fld>
            <a:endParaRPr lang="en-US" sz="1200">
              <a:solidFill>
                <a:schemeClr val="tx1">
                  <a:tint val="75000"/>
                </a:schemeClr>
              </a:solidFill>
            </a:endParaRPr>
          </a:p>
        </p:txBody>
      </p:sp>
      <p:sp>
        <p:nvSpPr>
          <p:cNvPr id="2" name="pole tekstowe 1">
            <a:extLst>
              <a:ext uri="{FF2B5EF4-FFF2-40B4-BE49-F238E27FC236}">
                <a16:creationId xmlns:a16="http://schemas.microsoft.com/office/drawing/2014/main" id="{094EFDF7-84DE-A382-C881-EA1319912068}"/>
              </a:ext>
            </a:extLst>
          </p:cNvPr>
          <p:cNvSpPr txBox="1"/>
          <p:nvPr/>
        </p:nvSpPr>
        <p:spPr>
          <a:xfrm>
            <a:off x="7596818" y="72739"/>
            <a:ext cx="2763594" cy="286406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l-PL" sz="1200" err="1">
                <a:solidFill>
                  <a:schemeClr val="bg1"/>
                </a:solidFill>
              </a:rPr>
              <a:t>Random</a:t>
            </a:r>
            <a:r>
              <a:rPr lang="pl-PL" sz="1200">
                <a:solidFill>
                  <a:schemeClr val="bg1"/>
                </a:solidFill>
              </a:rPr>
              <a:t> </a:t>
            </a:r>
            <a:r>
              <a:rPr lang="pl-PL" sz="1200" err="1">
                <a:solidFill>
                  <a:schemeClr val="bg1"/>
                </a:solidFill>
              </a:rPr>
              <a:t>Forest</a:t>
            </a:r>
            <a:r>
              <a:rPr lang="pl-PL" sz="1200">
                <a:solidFill>
                  <a:schemeClr val="bg1"/>
                </a:solidFill>
              </a:rPr>
              <a:t>, </a:t>
            </a:r>
            <a:r>
              <a:rPr lang="pl-PL" sz="1200" err="1">
                <a:solidFill>
                  <a:schemeClr val="bg1"/>
                </a:solidFill>
              </a:rPr>
              <a:t>scoring</a:t>
            </a:r>
            <a:r>
              <a:rPr lang="pl-PL" sz="1200">
                <a:solidFill>
                  <a:schemeClr val="bg1"/>
                </a:solidFill>
              </a:rPr>
              <a:t> = f1_macro</a:t>
            </a:r>
          </a:p>
        </p:txBody>
      </p:sp>
      <p:sp>
        <p:nvSpPr>
          <p:cNvPr id="9" name="pole tekstowe 8">
            <a:extLst>
              <a:ext uri="{FF2B5EF4-FFF2-40B4-BE49-F238E27FC236}">
                <a16:creationId xmlns:a16="http://schemas.microsoft.com/office/drawing/2014/main" id="{3165E0EB-6775-9782-E335-8A148A8BDFDF}"/>
              </a:ext>
            </a:extLst>
          </p:cNvPr>
          <p:cNvSpPr txBox="1"/>
          <p:nvPr/>
        </p:nvSpPr>
        <p:spPr>
          <a:xfrm>
            <a:off x="1802293" y="3461663"/>
            <a:ext cx="2218963" cy="292388"/>
          </a:xfrm>
          <a:prstGeom prst="rect">
            <a:avLst/>
          </a:prstGeom>
          <a:solidFill>
            <a:schemeClr val="tx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l-PL" sz="1300" err="1">
                <a:solidFill>
                  <a:srgbClr val="000000"/>
                </a:solidFill>
              </a:rPr>
              <a:t>XGBoost</a:t>
            </a:r>
            <a:r>
              <a:rPr lang="pl-PL" sz="1300">
                <a:solidFill>
                  <a:srgbClr val="000000"/>
                </a:solidFill>
              </a:rPr>
              <a:t> - ważenie klas</a:t>
            </a:r>
            <a:endParaRPr lang="pl-PL" sz="1300"/>
          </a:p>
        </p:txBody>
      </p:sp>
      <p:sp>
        <p:nvSpPr>
          <p:cNvPr id="7" name="pole tekstowe 6">
            <a:extLst>
              <a:ext uri="{FF2B5EF4-FFF2-40B4-BE49-F238E27FC236}">
                <a16:creationId xmlns:a16="http://schemas.microsoft.com/office/drawing/2014/main" id="{59D21F8E-FB82-0B2B-0EA4-C5784E96DC1A}"/>
              </a:ext>
            </a:extLst>
          </p:cNvPr>
          <p:cNvSpPr txBox="1"/>
          <p:nvPr/>
        </p:nvSpPr>
        <p:spPr>
          <a:xfrm>
            <a:off x="7836121" y="3506655"/>
            <a:ext cx="2638615" cy="292388"/>
          </a:xfrm>
          <a:prstGeom prst="rect">
            <a:avLst/>
          </a:prstGeom>
          <a:solidFill>
            <a:schemeClr val="tx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l-PL" sz="1300" err="1">
                <a:solidFill>
                  <a:srgbClr val="000000"/>
                </a:solidFill>
              </a:rPr>
              <a:t>XGBoost</a:t>
            </a:r>
            <a:r>
              <a:rPr lang="pl-PL" sz="1300">
                <a:solidFill>
                  <a:srgbClr val="000000"/>
                </a:solidFill>
              </a:rPr>
              <a:t>,  </a:t>
            </a:r>
            <a:r>
              <a:rPr lang="pl-PL" sz="1300" err="1">
                <a:solidFill>
                  <a:srgbClr val="000000"/>
                </a:solidFill>
              </a:rPr>
              <a:t>scoring</a:t>
            </a:r>
            <a:r>
              <a:rPr lang="pl-PL" sz="1300">
                <a:solidFill>
                  <a:srgbClr val="000000"/>
                </a:solidFill>
              </a:rPr>
              <a:t> = f1_macro</a:t>
            </a:r>
            <a:endParaRPr lang="pl-PL" sz="1300"/>
          </a:p>
        </p:txBody>
      </p:sp>
      <p:sp>
        <p:nvSpPr>
          <p:cNvPr id="16" name="Symbol zastępczy stopki 15">
            <a:extLst>
              <a:ext uri="{FF2B5EF4-FFF2-40B4-BE49-F238E27FC236}">
                <a16:creationId xmlns:a16="http://schemas.microsoft.com/office/drawing/2014/main" id="{BE4E9A4C-9A29-019B-6CBE-BBC0B4E0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Słudzy Bachusa</a:t>
            </a:r>
            <a:endParaRPr lang="pl-PL"/>
          </a:p>
        </p:txBody>
      </p:sp>
      <p:sp>
        <p:nvSpPr>
          <p:cNvPr id="5" name="pole tekstowe 4">
            <a:extLst>
              <a:ext uri="{FF2B5EF4-FFF2-40B4-BE49-F238E27FC236}">
                <a16:creationId xmlns:a16="http://schemas.microsoft.com/office/drawing/2014/main" id="{F4D45FB0-F9A8-7136-5857-6523D6169FEB}"/>
              </a:ext>
            </a:extLst>
          </p:cNvPr>
          <p:cNvSpPr txBox="1"/>
          <p:nvPr/>
        </p:nvSpPr>
        <p:spPr>
          <a:xfrm>
            <a:off x="4783434" y="927390"/>
            <a:ext cx="1145538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l-PL" sz="6000">
                <a:ea typeface="+mn-lt"/>
                <a:cs typeface="+mn-lt"/>
              </a:rPr>
              <a:t>🏆</a:t>
            </a:r>
            <a:endParaRPr lang="pl-PL" sz="6000"/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59DED24B-606A-46A2-D82E-EC5B497EC8E5}"/>
              </a:ext>
            </a:extLst>
          </p:cNvPr>
          <p:cNvSpPr txBox="1"/>
          <p:nvPr/>
        </p:nvSpPr>
        <p:spPr>
          <a:xfrm>
            <a:off x="-189554" y="924803"/>
            <a:ext cx="814272" cy="1015663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l-PL" sz="6000">
                <a:ea typeface="+mn-lt"/>
                <a:cs typeface="+mn-lt"/>
              </a:rPr>
              <a:t>🍷</a:t>
            </a:r>
            <a:endParaRPr lang="pl-PL" sz="6000"/>
          </a:p>
        </p:txBody>
      </p:sp>
      <p:pic>
        <p:nvPicPr>
          <p:cNvPr id="11" name="Obraz 10" descr="Obraz zawierający tekst, zrzut ekranu, diagram, numer&#10;&#10;Zawartość wygenerowana przez AI może być niepoprawna.">
            <a:extLst>
              <a:ext uri="{FF2B5EF4-FFF2-40B4-BE49-F238E27FC236}">
                <a16:creationId xmlns:a16="http://schemas.microsoft.com/office/drawing/2014/main" id="{A0192DB2-FB79-21C6-4ADC-C4D5277104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32409" y="3657"/>
            <a:ext cx="3756734" cy="3413303"/>
          </a:xfrm>
          <a:prstGeom prst="rect">
            <a:avLst/>
          </a:prstGeom>
          <a:ln w="57150">
            <a:solidFill>
              <a:schemeClr val="accent3">
                <a:lumMod val="75000"/>
              </a:schemeClr>
            </a:solidFill>
          </a:ln>
        </p:spPr>
      </p:pic>
      <p:sp>
        <p:nvSpPr>
          <p:cNvPr id="3" name="pole tekstowe 2">
            <a:extLst>
              <a:ext uri="{FF2B5EF4-FFF2-40B4-BE49-F238E27FC236}">
                <a16:creationId xmlns:a16="http://schemas.microsoft.com/office/drawing/2014/main" id="{AB2FD3B8-DB50-5C8C-76F6-A892961B3CC0}"/>
              </a:ext>
            </a:extLst>
          </p:cNvPr>
          <p:cNvSpPr txBox="1"/>
          <p:nvPr/>
        </p:nvSpPr>
        <p:spPr>
          <a:xfrm>
            <a:off x="1924588" y="5463"/>
            <a:ext cx="1822216" cy="292388"/>
          </a:xfrm>
          <a:prstGeom prst="rect">
            <a:avLst/>
          </a:prstGeom>
          <a:solidFill>
            <a:schemeClr val="tx1"/>
          </a:solidFill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l-PL" sz="1300" err="1">
                <a:solidFill>
                  <a:srgbClr val="000000"/>
                </a:solidFill>
              </a:rPr>
              <a:t>XGBoost</a:t>
            </a:r>
            <a:r>
              <a:rPr lang="pl-PL" sz="1300">
                <a:solidFill>
                  <a:srgbClr val="000000"/>
                </a:solidFill>
              </a:rPr>
              <a:t> - SMOTE</a:t>
            </a:r>
            <a:endParaRPr lang="pl-PL" sz="1300"/>
          </a:p>
        </p:txBody>
      </p:sp>
    </p:spTree>
    <p:extLst>
      <p:ext uri="{BB962C8B-B14F-4D97-AF65-F5344CB8AC3E}">
        <p14:creationId xmlns:p14="http://schemas.microsoft.com/office/powerpoint/2010/main" val="861378961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43396A8-9125-4E23-68FA-22C6AAFEA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58972" y="207091"/>
            <a:ext cx="9668197" cy="792895"/>
          </a:xfrm>
        </p:spPr>
        <p:txBody>
          <a:bodyPr>
            <a:normAutofit/>
          </a:bodyPr>
          <a:lstStyle/>
          <a:p>
            <a:r>
              <a:rPr lang="pl-PL" sz="4000" err="1"/>
              <a:t>XGBoost</a:t>
            </a:r>
            <a:r>
              <a:rPr lang="pl-PL" sz="4000"/>
              <a:t> ważenie klas - ważność cech</a:t>
            </a:r>
            <a:endParaRPr lang="pl-PL" err="1"/>
          </a:p>
        </p:txBody>
      </p:sp>
      <p:pic>
        <p:nvPicPr>
          <p:cNvPr id="7" name="Symbol zastępczy zawartości 6" descr="Obraz zawierający tekst, zrzut ekranu, diagram, numer&#10;&#10;Zawartość wygenerowana przez AI może być niepoprawna.">
            <a:extLst>
              <a:ext uri="{FF2B5EF4-FFF2-40B4-BE49-F238E27FC236}">
                <a16:creationId xmlns:a16="http://schemas.microsoft.com/office/drawing/2014/main" id="{3C296D9C-7CA2-E618-12BA-5B725A879FA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463916" y="1187532"/>
            <a:ext cx="9255184" cy="5428816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765A85B8-7DDC-888E-9401-34DA95A154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96519-E62D-4F8C-AE1E-36928EC7D15C}" type="datetime1">
              <a:rPr lang="en-US" smtClean="0"/>
              <a:t>10/11/2025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0EE3D969-A6AC-FCE4-114F-10FBD35B44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Słudzy Bachusa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F30BE86-C291-4A9C-871D-9B8424D06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15</a:t>
            </a:fld>
            <a:endParaRPr lang="en-US"/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9B052F02-24D0-7521-AF3B-37DD7296FBAE}"/>
              </a:ext>
            </a:extLst>
          </p:cNvPr>
          <p:cNvSpPr/>
          <p:nvPr/>
        </p:nvSpPr>
        <p:spPr>
          <a:xfrm>
            <a:off x="230963" y="57740"/>
            <a:ext cx="923855" cy="3031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22028448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0A0BC5-61F3-B712-761D-B4A782081D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3">
            <a:extLst>
              <a:ext uri="{FF2B5EF4-FFF2-40B4-BE49-F238E27FC236}">
                <a16:creationId xmlns:a16="http://schemas.microsoft.com/office/drawing/2014/main" id="{724060E5-BA89-DD1D-4406-2DD9FDF7F4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ytuł 1">
            <a:extLst>
              <a:ext uri="{FF2B5EF4-FFF2-40B4-BE49-F238E27FC236}">
                <a16:creationId xmlns:a16="http://schemas.microsoft.com/office/drawing/2014/main" id="{76FDA9FE-819F-77A0-9607-3AC433E54A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258" y="5265412"/>
            <a:ext cx="6816312" cy="1337079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4000"/>
              <a:t>Aplikacja</a:t>
            </a:r>
          </a:p>
        </p:txBody>
      </p:sp>
      <p:pic>
        <p:nvPicPr>
          <p:cNvPr id="2" name="Obraz 1" descr="Obraz zawierający tekst, zrzut ekranu, oprogramowanie, Oprogramowanie multimedialne&#10;&#10;Zawartość wygenerowana przez AI może być niepoprawna.">
            <a:extLst>
              <a:ext uri="{FF2B5EF4-FFF2-40B4-BE49-F238E27FC236}">
                <a16:creationId xmlns:a16="http://schemas.microsoft.com/office/drawing/2014/main" id="{E04E019E-FE27-A1DC-9B22-E691EEA7C65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5726"/>
          <a:stretch>
            <a:fillRect/>
          </a:stretch>
        </p:blipFill>
        <p:spPr>
          <a:xfrm>
            <a:off x="20" y="10"/>
            <a:ext cx="12191979" cy="5143490"/>
          </a:xfrm>
          <a:custGeom>
            <a:avLst/>
            <a:gdLst/>
            <a:ahLst/>
            <a:cxnLst/>
            <a:rect l="l" t="t" r="r" b="b"/>
            <a:pathLst>
              <a:path w="12191999" h="5143500">
                <a:moveTo>
                  <a:pt x="0" y="0"/>
                </a:moveTo>
                <a:lnTo>
                  <a:pt x="12191999" y="0"/>
                </a:lnTo>
                <a:lnTo>
                  <a:pt x="12191999" y="4503161"/>
                </a:lnTo>
                <a:lnTo>
                  <a:pt x="12178990" y="4632203"/>
                </a:lnTo>
                <a:cubicBezTo>
                  <a:pt x="12119280" y="4924000"/>
                  <a:pt x="11861099" y="5143500"/>
                  <a:pt x="11551650" y="5143500"/>
                </a:cubicBezTo>
                <a:lnTo>
                  <a:pt x="640350" y="5143500"/>
                </a:lnTo>
                <a:cubicBezTo>
                  <a:pt x="286694" y="5143500"/>
                  <a:pt x="0" y="4856806"/>
                  <a:pt x="0" y="4503150"/>
                </a:cubicBezTo>
                <a:close/>
              </a:path>
            </a:pathLst>
          </a:custGeom>
        </p:spPr>
      </p:pic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9631CCB4-0728-F261-0BD3-F780DCA9C22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0137" y="63202"/>
            <a:ext cx="2743200" cy="31822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0F996519-E62D-4F8C-AE1E-36928EC7D15C}" type="datetime1">
              <a:rPr lang="en-US">
                <a:solidFill>
                  <a:srgbClr val="FFFFFF"/>
                </a:solidFill>
              </a:rPr>
              <a:pPr>
                <a:spcAft>
                  <a:spcPts val="600"/>
                </a:spcAft>
              </a:pPr>
              <a:t>10/11/2025</a:t>
            </a:fld>
            <a:endParaRPr lang="en-US">
              <a:solidFill>
                <a:srgbClr val="FFFFFF"/>
              </a:solidFill>
            </a:endParaRPr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7FF06CBA-FA4C-0961-351D-D7FE0DF3C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44016" y="6424761"/>
            <a:ext cx="4059936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US" b="0" kern="1200" cap="all" spc="0" baseline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Słudzy Bachusa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A709D6EA-3FA7-FBF3-DA7E-7F84A069E0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03951" y="6425816"/>
            <a:ext cx="429768" cy="365125"/>
          </a:xfrm>
        </p:spPr>
        <p:txBody>
          <a:bodyPr vert="horz" lIns="91440" tIns="45720" rIns="91440" bIns="45720" rtlCol="0" anchor="ctr">
            <a:normAutofit/>
          </a:bodyPr>
          <a:lstStyle/>
          <a:p>
            <a:pPr>
              <a:spcAft>
                <a:spcPts val="600"/>
              </a:spcAft>
            </a:pPr>
            <a:fld id="{6E91CC32-6A6B-4E2E-BBA1-6864F305DA26}" type="slidenum">
              <a:rPr lang="en-US" smtClean="0"/>
              <a:pPr>
                <a:spcAft>
                  <a:spcPts val="600"/>
                </a:spcAft>
              </a:pPr>
              <a:t>16</a:t>
            </a:fld>
            <a:endParaRPr lang="en-US"/>
          </a:p>
        </p:txBody>
      </p:sp>
      <p:sp>
        <p:nvSpPr>
          <p:cNvPr id="3" name="Prostokąt 2">
            <a:extLst>
              <a:ext uri="{FF2B5EF4-FFF2-40B4-BE49-F238E27FC236}">
                <a16:creationId xmlns:a16="http://schemas.microsoft.com/office/drawing/2014/main" id="{F565126A-DFA6-A2AE-CAF5-22B93E0A3C2E}"/>
              </a:ext>
            </a:extLst>
          </p:cNvPr>
          <p:cNvSpPr/>
          <p:nvPr/>
        </p:nvSpPr>
        <p:spPr>
          <a:xfrm>
            <a:off x="3717690" y="6003649"/>
            <a:ext cx="923855" cy="3031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sp>
        <p:nvSpPr>
          <p:cNvPr id="8" name="pole tekstowe 7">
            <a:extLst>
              <a:ext uri="{FF2B5EF4-FFF2-40B4-BE49-F238E27FC236}">
                <a16:creationId xmlns:a16="http://schemas.microsoft.com/office/drawing/2014/main" id="{721105C5-BA72-2AF7-584B-99A13634A62C}"/>
              </a:ext>
            </a:extLst>
          </p:cNvPr>
          <p:cNvSpPr txBox="1"/>
          <p:nvPr/>
        </p:nvSpPr>
        <p:spPr>
          <a:xfrm>
            <a:off x="8272607" y="5752875"/>
            <a:ext cx="3680984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l-PL">
                <a:ea typeface="+mn-lt"/>
                <a:cs typeface="+mn-lt"/>
                <a:hlinkClick r:id="rId3"/>
              </a:rPr>
              <a:t>http://127.0.0.1:8080/</a:t>
            </a:r>
            <a:r>
              <a:rPr lang="pl-PL">
                <a:ea typeface="+mn-lt"/>
                <a:cs typeface="+mn-lt"/>
              </a:rPr>
              <a:t> </a:t>
            </a:r>
            <a:endParaRPr lang="pl-PL"/>
          </a:p>
        </p:txBody>
      </p:sp>
      <p:sp>
        <p:nvSpPr>
          <p:cNvPr id="12" name="pole tekstowe 11">
            <a:extLst>
              <a:ext uri="{FF2B5EF4-FFF2-40B4-BE49-F238E27FC236}">
                <a16:creationId xmlns:a16="http://schemas.microsoft.com/office/drawing/2014/main" id="{D681FDAB-D4EA-03E7-2ED9-A0631FA35355}"/>
              </a:ext>
            </a:extLst>
          </p:cNvPr>
          <p:cNvSpPr txBox="1"/>
          <p:nvPr/>
        </p:nvSpPr>
        <p:spPr>
          <a:xfrm>
            <a:off x="7651905" y="5617085"/>
            <a:ext cx="852580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pl-PL" sz="3600">
                <a:ea typeface="+mn-lt"/>
                <a:cs typeface="+mn-lt"/>
              </a:rPr>
              <a:t>➡</a:t>
            </a:r>
            <a:endParaRPr lang="pl-PL" sz="3600"/>
          </a:p>
        </p:txBody>
      </p:sp>
    </p:spTree>
    <p:extLst>
      <p:ext uri="{BB962C8B-B14F-4D97-AF65-F5344CB8AC3E}">
        <p14:creationId xmlns:p14="http://schemas.microsoft.com/office/powerpoint/2010/main" val="39357288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87C0780-58FC-D34E-FBE2-5D3A70AB04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6609" y="356795"/>
            <a:ext cx="9956747" cy="874336"/>
          </a:xfrm>
        </p:spPr>
        <p:txBody>
          <a:bodyPr/>
          <a:lstStyle/>
          <a:p>
            <a:r>
              <a:rPr lang="pl-PL" b="0">
                <a:ea typeface="+mj-lt"/>
                <a:cs typeface="+mj-lt"/>
              </a:rPr>
              <a:t>🧭</a:t>
            </a:r>
            <a:r>
              <a:rPr lang="pl-PL"/>
              <a:t>Quo vadis, aplikacjo?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0654130A-D3C0-4A20-2BB4-5136800CE7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pl-PL" sz="2000" dirty="0"/>
              <a:t>🍇Dodanie innych czynników mających wpływ na jakość</a:t>
            </a:r>
            <a:endParaRPr lang="pl-PL" dirty="0"/>
          </a:p>
          <a:p>
            <a:pPr marL="0" indent="0">
              <a:buNone/>
            </a:pPr>
            <a:r>
              <a:rPr lang="pl-PL" sz="2000" dirty="0"/>
              <a:t> wina np. metody produkcji </a:t>
            </a:r>
            <a:endParaRPr lang="pl-PL" dirty="0"/>
          </a:p>
          <a:p>
            <a:pPr marL="0" indent="0">
              <a:buNone/>
            </a:pPr>
            <a:r>
              <a:rPr lang="pl-PL" sz="2000" dirty="0">
                <a:ea typeface="+mn-lt"/>
                <a:cs typeface="+mn-lt"/>
              </a:rPr>
              <a:t>🧠</a:t>
            </a:r>
            <a:r>
              <a:rPr lang="pl-PL" sz="2000" dirty="0"/>
              <a:t>Zwiększenie ilość danych treningowych</a:t>
            </a:r>
            <a:endParaRPr lang="pl-PL" dirty="0"/>
          </a:p>
          <a:p>
            <a:pPr marL="0" indent="0">
              <a:buNone/>
            </a:pPr>
            <a:r>
              <a:rPr lang="pl-PL" sz="2000" dirty="0">
                <a:ea typeface="+mn-lt"/>
                <a:cs typeface="+mn-lt"/>
              </a:rPr>
              <a:t>⚖️️</a:t>
            </a:r>
            <a:r>
              <a:rPr lang="pl-PL" sz="2000" dirty="0" err="1">
                <a:ea typeface="+mn-lt"/>
                <a:cs typeface="+mn-lt"/>
              </a:rPr>
              <a:t>Benchmarking</a:t>
            </a:r>
            <a:r>
              <a:rPr lang="pl-PL" sz="2000" dirty="0"/>
              <a:t> - nazwy, ceny i koszty ocenianych win </a:t>
            </a:r>
          </a:p>
          <a:p>
            <a:pPr marL="0" indent="0">
              <a:buNone/>
            </a:pPr>
            <a:r>
              <a:rPr lang="pl-PL" sz="2000" dirty="0">
                <a:ea typeface="+mn-lt"/>
                <a:cs typeface="+mn-lt"/>
              </a:rPr>
              <a:t>🌍</a:t>
            </a:r>
            <a:r>
              <a:rPr lang="pl-PL" sz="2000" dirty="0"/>
              <a:t>Potencjalne rynki zbytu </a:t>
            </a:r>
            <a:endParaRPr lang="pl-PL" dirty="0"/>
          </a:p>
          <a:p>
            <a:pPr marL="0" indent="0">
              <a:buNone/>
            </a:pPr>
            <a:r>
              <a:rPr lang="pl-PL" sz="2000" dirty="0">
                <a:ea typeface="+mn-lt"/>
                <a:cs typeface="+mn-lt"/>
              </a:rPr>
              <a:t>🎨</a:t>
            </a:r>
            <a:r>
              <a:rPr lang="pl-PL" sz="2000" dirty="0"/>
              <a:t>Poprawa UX</a:t>
            </a:r>
          </a:p>
          <a:p>
            <a:endParaRPr lang="pl-PL"/>
          </a:p>
          <a:p>
            <a:endParaRPr lang="pl-PL"/>
          </a:p>
        </p:txBody>
      </p:sp>
      <p:sp>
        <p:nvSpPr>
          <p:cNvPr id="4" name="Symbol zastępczy daty 3">
            <a:extLst>
              <a:ext uri="{FF2B5EF4-FFF2-40B4-BE49-F238E27FC236}">
                <a16:creationId xmlns:a16="http://schemas.microsoft.com/office/drawing/2014/main" id="{968E34EE-BA5B-F7BE-325F-F6C884E4FE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996519-E62D-4F8C-AE1E-36928EC7D15C}" type="datetime1">
              <a:rPr lang="en-US" smtClean="0"/>
              <a:t>10/11/2025</a:t>
            </a:fld>
            <a:endParaRPr lang="en-US"/>
          </a:p>
        </p:txBody>
      </p:sp>
      <p:sp>
        <p:nvSpPr>
          <p:cNvPr id="5" name="Symbol zastępczy stopki 4">
            <a:extLst>
              <a:ext uri="{FF2B5EF4-FFF2-40B4-BE49-F238E27FC236}">
                <a16:creationId xmlns:a16="http://schemas.microsoft.com/office/drawing/2014/main" id="{4231C615-7408-E447-7634-C264AA29D4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Słudzy Bachusa</a:t>
            </a:r>
          </a:p>
        </p:txBody>
      </p:sp>
      <p:sp>
        <p:nvSpPr>
          <p:cNvPr id="6" name="Symbol zastępczy numeru slajdu 5">
            <a:extLst>
              <a:ext uri="{FF2B5EF4-FFF2-40B4-BE49-F238E27FC236}">
                <a16:creationId xmlns:a16="http://schemas.microsoft.com/office/drawing/2014/main" id="{E3FD127F-793F-02AB-CD7C-58D0996F9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91CC32-6A6B-4E2E-BBA1-6864F305DA26}" type="slidenum">
              <a:rPr lang="en-US" smtClean="0"/>
              <a:t>17</a:t>
            </a:fld>
            <a:endParaRPr lang="en-US"/>
          </a:p>
        </p:txBody>
      </p:sp>
      <p:sp>
        <p:nvSpPr>
          <p:cNvPr id="8" name="Prostokąt 7">
            <a:extLst>
              <a:ext uri="{FF2B5EF4-FFF2-40B4-BE49-F238E27FC236}">
                <a16:creationId xmlns:a16="http://schemas.microsoft.com/office/drawing/2014/main" id="{AAA2089F-7874-22BC-22FE-30856B3CFBA3}"/>
              </a:ext>
            </a:extLst>
          </p:cNvPr>
          <p:cNvSpPr/>
          <p:nvPr/>
        </p:nvSpPr>
        <p:spPr>
          <a:xfrm>
            <a:off x="230963" y="57740"/>
            <a:ext cx="923855" cy="303139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l-PL"/>
          </a:p>
        </p:txBody>
      </p:sp>
      <p:pic>
        <p:nvPicPr>
          <p:cNvPr id="10" name="Obraz 9" descr="Obraz zawierający pojemnik, szkło/szklanka, Kieliszek na wino, wino&#10;&#10;Zawartość wygenerowana przez AI może być niepoprawna.">
            <a:extLst>
              <a:ext uri="{FF2B5EF4-FFF2-40B4-BE49-F238E27FC236}">
                <a16:creationId xmlns:a16="http://schemas.microsoft.com/office/drawing/2014/main" id="{7E2079D7-0901-A9AC-C07E-3395993CDF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5023" y="0"/>
            <a:ext cx="4472940" cy="6858000"/>
          </a:xfrm>
          <a:prstGeom prst="roundRect">
            <a:avLst>
              <a:gd name="adj" fmla="val 8594"/>
            </a:avLst>
          </a:prstGeom>
          <a:solidFill>
            <a:srgbClr val="FFFFFF">
              <a:shade val="85000"/>
            </a:srgbClr>
          </a:solidFill>
          <a:ln>
            <a:noFill/>
          </a:ln>
          <a:effectLst>
            <a:reflection blurRad="12700" stA="38000" endPos="28000" dist="5000" dir="5400000" sy="-100000" algn="bl" rotWithShape="0"/>
          </a:effectLst>
        </p:spPr>
      </p:pic>
    </p:spTree>
    <p:extLst>
      <p:ext uri="{BB962C8B-B14F-4D97-AF65-F5344CB8AC3E}">
        <p14:creationId xmlns:p14="http://schemas.microsoft.com/office/powerpoint/2010/main" val="1461887340"/>
      </p:ext>
    </p:extLst>
  </p:cSld>
  <p:clrMapOvr>
    <a:masterClrMapping/>
  </p:clrMapOvr>
</p:sld>
</file>

<file path=ppt/theme/theme1.xml><?xml version="1.0" encoding="utf-8"?>
<a:theme xmlns:a="http://schemas.openxmlformats.org/drawingml/2006/main" name="DylanVTI">
  <a:themeElements>
    <a:clrScheme name="Custom 8">
      <a:dk1>
        <a:sysClr val="windowText" lastClr="000000"/>
      </a:dk1>
      <a:lt1>
        <a:sysClr val="window" lastClr="FFFFFF"/>
      </a:lt1>
      <a:dk2>
        <a:srgbClr val="1A1A33"/>
      </a:dk2>
      <a:lt2>
        <a:srgbClr val="EEFFE3"/>
      </a:lt2>
      <a:accent1>
        <a:srgbClr val="5C40EF"/>
      </a:accent1>
      <a:accent2>
        <a:srgbClr val="B8A0F8"/>
      </a:accent2>
      <a:accent3>
        <a:srgbClr val="00C777"/>
      </a:accent3>
      <a:accent4>
        <a:srgbClr val="005A66"/>
      </a:accent4>
      <a:accent5>
        <a:srgbClr val="9956EA"/>
      </a:accent5>
      <a:accent6>
        <a:srgbClr val="9BBB25"/>
      </a:accent6>
      <a:hlink>
        <a:srgbClr val="674CF0"/>
      </a:hlink>
      <a:folHlink>
        <a:srgbClr val="B53699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ylanVTI" id="{602636BD-A055-489B-83EC-AD971B7E5F9C}" vid="{CD33A9BC-C4B5-4F36-8A14-490DC4E38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Panoramiczny</PresentationFormat>
  <Slides>17</Slides>
  <Notes>0</Notes>
  <HiddenSlides>0</HiddenSlides>
  <ScaleCrop>false</ScaleCrop>
  <HeadingPairs>
    <vt:vector size="4" baseType="variant">
      <vt:variant>
        <vt:lpstr>Motyw</vt:lpstr>
      </vt:variant>
      <vt:variant>
        <vt:i4>1</vt:i4>
      </vt:variant>
      <vt:variant>
        <vt:lpstr>Tytuły slajdów</vt:lpstr>
      </vt:variant>
      <vt:variant>
        <vt:i4>17</vt:i4>
      </vt:variant>
    </vt:vector>
  </HeadingPairs>
  <TitlesOfParts>
    <vt:vector size="18" baseType="lpstr">
      <vt:lpstr>DylanVTI</vt:lpstr>
      <vt:lpstr>Aplikacja do przewidywania jakości win </vt:lpstr>
      <vt:lpstr>📜Krótka historia wina</vt:lpstr>
      <vt:lpstr>🍷 Bachus – patron wina, zabawy i... analizy sensorycznej?</vt:lpstr>
      <vt:lpstr>Słudzy Bachusa </vt:lpstr>
      <vt:lpstr>Produkcja i konsumpcja wina 2024</vt:lpstr>
      <vt:lpstr>🍷 Jak na tym zarobić, zanim wszystko wypijemy?</vt:lpstr>
      <vt:lpstr>🧩Dane wejściowe</vt:lpstr>
      <vt:lpstr>   Chemia między danymi ⚗️✨  </vt:lpstr>
      <vt:lpstr>Prezentacja programu PowerPoint</vt:lpstr>
      <vt:lpstr>Prezentacja programu PowerPoint</vt:lpstr>
      <vt:lpstr>Od sikacza do szampana rozkład jakości  🤢 ➡ 🥂</vt:lpstr>
      <vt:lpstr>Algorytm na odwyku od średnich klas⚖️</vt:lpstr>
      <vt:lpstr>XGBoost SMOTE- raport klasyfikacji📊 </vt:lpstr>
      <vt:lpstr>Prezentacja programu PowerPoint</vt:lpstr>
      <vt:lpstr>XGBoost ważenie klas - ważność cech</vt:lpstr>
      <vt:lpstr>Aplikacja</vt:lpstr>
      <vt:lpstr>🧭Quo vadis, aplikacjo?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137</cp:revision>
  <dcterms:created xsi:type="dcterms:W3CDTF">2025-09-21T17:34:04Z</dcterms:created>
  <dcterms:modified xsi:type="dcterms:W3CDTF">2025-10-11T19:03:12Z</dcterms:modified>
</cp:coreProperties>
</file>