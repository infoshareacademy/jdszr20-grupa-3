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F_91F10457.xml" ContentType="application/vnd.ms-powerpoint.comments+xml"/>
  <Override PartName="/ppt/comments/modernComment_11C_77B6537E.xml" ContentType="application/vnd.ms-powerpoint.comments+xml"/>
  <Override PartName="/ppt/comments/modernComment_118_33579991.xml" ContentType="application/vnd.ms-powerpoint.comments+xml"/>
  <Override PartName="/ppt/comments/modernComment_114_BFF1A444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sldIdLst>
    <p:sldId id="256" r:id="rId2"/>
    <p:sldId id="267" r:id="rId3"/>
    <p:sldId id="268" r:id="rId4"/>
    <p:sldId id="271" r:id="rId5"/>
    <p:sldId id="270" r:id="rId6"/>
    <p:sldId id="284" r:id="rId7"/>
    <p:sldId id="286" r:id="rId8"/>
    <p:sldId id="273" r:id="rId9"/>
    <p:sldId id="258" r:id="rId10"/>
    <p:sldId id="259" r:id="rId11"/>
    <p:sldId id="261" r:id="rId12"/>
    <p:sldId id="285" r:id="rId13"/>
    <p:sldId id="281" r:id="rId14"/>
    <p:sldId id="280" r:id="rId15"/>
    <p:sldId id="276" r:id="rId16"/>
    <p:sldId id="282" r:id="rId17"/>
    <p:sldId id="283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DFECE0-391B-3AA7-426F-AEFE5FB951D5}" name="Gość" initials="Go" userId="Gość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D031B-ACCC-7095-A1AC-4F41549D48A4}" v="135" dt="2025-10-11T18:12:13.618"/>
    <p1510:client id="{372BD63D-593E-AC82-6015-DC7F38EAEBA8}" v="3" dt="2025-10-11T17:24:14.672"/>
    <p1510:client id="{ACF6BC14-4A37-C579-9D2E-38FF0DC8B246}" v="246" dt="2025-10-11T18:06:12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F_91F104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8DCD25-C8D4-4FFA-BDC7-7C86316C7909}" authorId="{A6DFECE0-391B-3AA7-426F-AEFE5FB951D5}" created="2025-10-08T12:09:24.113">
    <pc:sldMkLst xmlns:pc="http://schemas.microsoft.com/office/powerpoint/2013/main/command">
      <pc:docMk/>
      <pc:sldMk cId="2448491607" sldId="271"/>
    </pc:sldMkLst>
    <p188:txBody>
      <a:bodyPr/>
      <a:lstStyle/>
      <a:p>
        <a:r>
          <a:rPr lang="pl-PL"/>
          <a:t>Nasza misja? Połączyć boską inspirację z nauką. Tak jak dawniej Bachus inspirował ludzi do odkrywania smaku życia, my chcemy odkryć, co naprawdę kryje się w kieliszku wina — ale z pomocą danych, modeli i algorytmów. Pragniemy przewidzieć jakość wina lepiej niż sam bóg, udowadniając, że współczesna technologia potrafi uchwycić coś z magii, która towarzyszy winu od tysięcy lat.</a:t>
        </a:r>
      </a:p>
    </p188:txBody>
  </p188:cm>
</p188:cmLst>
</file>

<file path=ppt/comments/modernComment_11C_77B653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B78E07-488B-48CB-844A-EB735BABD2DA}" authorId="{A6DFECE0-391B-3AA7-426F-AEFE5FB951D5}" created="2025-10-05T17:27:37.720">
    <pc:sldMkLst xmlns:pc="http://schemas.microsoft.com/office/powerpoint/2013/main/command">
      <pc:docMk/>
      <pc:sldMk cId="2008437630" sldId="284"/>
    </pc:sldMkLst>
    <p188:txBody>
      <a:bodyPr/>
      <a:lstStyle/>
      <a:p>
        <a:r>
          <a:rPr lang="pl-PL"/>
          <a:t>1. Narzędzie do kontroli jakości wina (B2B)
Wasz model może służyć producentom win do:
szybkiej, automatycznej oceny jakości partii wina bez potrzeby panelu degustacyjnego,
porównywania receptur i optymalizacji procesu produkcji (np. „czy zmniejszenie kwasowości poprawi ocenę?”),
monitorowania stabilności produktu w czasie.
💸 Potencjał: licencja/subskrypcja dla winnic i laboratoriów → np. miesięczna opłata za dostęp do systemu.
📊 2. Aplikacja edukacyjna / analityczna dla enologów i studentów
Wasza apka może być interaktywnym narzędziem naukowym, które:
uczy, jak różne cechy chemiczne wpływają na ocenę wina,
pokazuje interpretację wyników (SHAP!) — czyli “dlaczego to wino dostało taką ocenę”,
pozwala eksperymentować z wartościami cech i obserwować wpływ na jakość.
💸 Potencjał: model freemium / subskrypcja edukacyjna, np. dla uczelni kierunków enologicznych lub chemicznych.
🧠 3. Asystent AI dla winiarzy
Dzięki SHAP-om macie AI-doradcę, który może podpowiadać:
„Twoje wino ma zbyt wysoką kwasowość — jeśli ją obniżysz, jakość może wzrosnąć o 0.7 punktu”.
💸 Potencjał: sprzedaż jako moduł doradczy lub konsultacyjny (np. integracja z systemem laboratoryjnym).
🍾 4. Platforma do benchmarkingu win
Można zbudować bazę danych win z ich parametrami i ocenami, i umożliwić:
porównywanie własnych win z innymi (np. „Twoje wino jest w top 15% win o podobnym profilu chemicznym”),
rekomendacje zmian w składzie.
💸 Potencjał: płatny dostęp do analityki i rankingu, raporty premium.</a:t>
        </a:r>
      </a:p>
    </p188:txBody>
  </p188:cm>
</p188:cmLst>
</file>

<file path=ppt/comments/modernComment_114_BFF1A4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0AD832-ED39-446D-8E84-7A853CD80052}" authorId="{A6DFECE0-391B-3AA7-426F-AEFE5FB951D5}" created="2025-10-05T17:00:21.464">
    <pc:sldMkLst xmlns:pc="http://schemas.microsoft.com/office/powerpoint/2013/main/command">
      <pc:docMk/>
      <pc:sldMk cId="3220284484" sldId="276"/>
    </pc:sldMkLst>
    <p188:txBody>
      <a:bodyPr/>
      <a:lstStyle/>
      <a:p>
        <a:r>
          <a:rPr lang="pl-PL"/>
          <a:t>Twoje różnice wynikają z tego, że:
Korelacja to prosty, liniowy związek między pojedynczą cechą a etykietą (tu: jakością).
Liczysz ją dla każdej cechy osobno, zakładając, że relacja jest liniowa: „im więcej X, tym więcej Y”.
Nie bierze pod uwagę interakcji między cechami ani efektów nieliniowych.
Ważność cech w XGBoost (feature importance) to zupełnie inna historia:
Model buduje drzewa decyzyjne, które mogą uwzględniać interakcje między cechami (np. „jeśli alkohol &gt; 10 i kwasowość &lt; 0.3, to…”).
XGBoost patrzy, które cechy najbardziej poprawiają dokładność predykcji — niekoniecznie te, które mają najwyższą korelację z wynikiem.
Cechy, które samodzielnie mają małą korelację, ale pomagają rozdzielać klasy w kombinacji z innymi, mogą być bardzo ważne.</a:t>
        </a:r>
      </a:p>
    </p188:txBody>
  </p188:cm>
</p188:cmLst>
</file>

<file path=ppt/comments/modernComment_118_335799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CF2971-435C-4CC4-B5F3-5F4B8EC857EB}" authorId="{A6DFECE0-391B-3AA7-426F-AEFE5FB951D5}" created="2025-10-05T16:59:58.073">
    <pc:sldMkLst xmlns:pc="http://schemas.microsoft.com/office/powerpoint/2013/main/command">
      <pc:docMk/>
      <pc:sldMk cId="861378961" sldId="280"/>
    </pc:sldMkLst>
    <p188:txBody>
      <a:bodyPr/>
      <a:lstStyle/>
      <a:p>
        <a:r>
          <a:rPr lang="pl-PL"/>
          <a:t>Twoje różnice wynikają z tego, że:
Korelacja to prosty, liniowy związek między pojedynczą cechą a etykietą (tu: jakością).
Liczysz ją dla każdej cechy osobno, zakładając, że relacja jest liniowa: „im więcej X, tym więcej Y”.
Nie bierze pod uwagę interakcji między cechami ani efektów nieliniowych.
Ważność cech w XGBoost (feature importance) to zupełnie inna historia:
Model buduje drzewa decyzyjne, które mogą uwzględniać interakcje między cechami (np. „jeśli alkohol &gt; 10 i kwasowość &lt; 0.3, to…”).
XGBoost patrzy, które cechy najbardziej poprawiają dokładność predykcji — niekoniecznie te, które mają najwyższą korelację z wynikiem.
Cechy, które samodzielnie mają małą korelację, ale pomagają rozdzielać klasy w kombinacji z innymi, mogą być bardzo ważne.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86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559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346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685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35808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29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967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2245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28765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6182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4624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Słudzy Bachusa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40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microsoft.com/office/2018/10/relationships/comments" Target="../comments/modernComment_10F_91F1045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microsoft.com/office/2018/10/relationships/comments" Target="../comments/modernComment_11C_77B6537E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118_335799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114_BFF1A44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963F6376-C8BE-899E-B3E6-E16BF429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42310" y="532972"/>
            <a:ext cx="7713214" cy="2897982"/>
          </a:xfrm>
        </p:spPr>
        <p:txBody>
          <a:bodyPr anchor="b">
            <a:normAutofit/>
          </a:bodyPr>
          <a:lstStyle/>
          <a:p>
            <a:r>
              <a:rPr lang="pl-PL" sz="2800"/>
              <a:t>Aplikacja do przewidywania jakości win</a:t>
            </a:r>
            <a:br>
              <a:rPr lang="pl-PL" sz="2000"/>
            </a:br>
            <a:endParaRPr lang="pl-PL" sz="200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310829" y="838200"/>
            <a:ext cx="6597080" cy="1714500"/>
          </a:xfrm>
        </p:spPr>
        <p:txBody>
          <a:bodyPr anchor="t">
            <a:noAutofit/>
          </a:bodyPr>
          <a:lstStyle/>
          <a:p>
            <a:r>
              <a:rPr lang="pl-PL" sz="6000" b="1"/>
              <a:t>Słudzy Bachusa</a:t>
            </a:r>
          </a:p>
        </p:txBody>
      </p:sp>
      <p:pic>
        <p:nvPicPr>
          <p:cNvPr id="6" name="Obraz 5" descr="Obraz zawierający obraz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ABD783F7-C1C9-3BE4-DD11-6C4175BE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1" r="2633"/>
          <a:stretch>
            <a:fillRect/>
          </a:stretch>
        </p:blipFill>
        <p:spPr>
          <a:xfrm>
            <a:off x="7137140" y="10"/>
            <a:ext cx="5054861" cy="6857990"/>
          </a:xfrm>
          <a:custGeom>
            <a:avLst/>
            <a:gdLst/>
            <a:ahLst/>
            <a:cxnLst/>
            <a:rect l="l" t="t" r="r" b="b"/>
            <a:pathLst>
              <a:path w="5054861" h="6858000">
                <a:moveTo>
                  <a:pt x="677913" y="0"/>
                </a:moveTo>
                <a:lnTo>
                  <a:pt x="5054861" y="0"/>
                </a:lnTo>
                <a:lnTo>
                  <a:pt x="5054861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  <p:sp>
        <p:nvSpPr>
          <p:cNvPr id="10" name="Tytuł 1">
            <a:extLst>
              <a:ext uri="{FF2B5EF4-FFF2-40B4-BE49-F238E27FC236}">
                <a16:creationId xmlns:a16="http://schemas.microsoft.com/office/drawing/2014/main" id="{7396C23D-F339-2B88-3A3E-3E510953382A}"/>
              </a:ext>
            </a:extLst>
          </p:cNvPr>
          <p:cNvSpPr txBox="1">
            <a:spLocks/>
          </p:cNvSpPr>
          <p:nvPr/>
        </p:nvSpPr>
        <p:spPr>
          <a:xfrm>
            <a:off x="411941" y="3684526"/>
            <a:ext cx="6394369" cy="28979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/>
              <a:t>Autorzy:</a:t>
            </a:r>
          </a:p>
          <a:p>
            <a:pPr marL="342900" indent="-342900">
              <a:buFont typeface="Calibri"/>
              <a:buChar char="-"/>
            </a:pPr>
            <a:r>
              <a:rPr lang="pl-PL" sz="2000"/>
              <a:t>Anna Jeziorska</a:t>
            </a:r>
          </a:p>
          <a:p>
            <a:pPr marL="342900" indent="-342900">
              <a:buFont typeface="Calibri"/>
              <a:buChar char="-"/>
            </a:pPr>
            <a:r>
              <a:rPr lang="pl-PL" sz="2000"/>
              <a:t>Julita Matusiak</a:t>
            </a:r>
          </a:p>
          <a:p>
            <a:pPr marL="342900" indent="-342900">
              <a:buFont typeface="Calibri"/>
              <a:buChar char="-"/>
            </a:pPr>
            <a:r>
              <a:rPr lang="pl-PL" sz="2000"/>
              <a:t>Paweł Maryńczak</a:t>
            </a:r>
          </a:p>
        </p:txBody>
      </p:sp>
      <p:pic>
        <p:nvPicPr>
          <p:cNvPr id="12" name="Obraz 11" descr="Obraz zawierający pojemnik, szkło/szklanka, wino, Kieliszek na wino&#10;&#10;Zawartość wygenerowana przez AI może być niepoprawna.">
            <a:extLst>
              <a:ext uri="{FF2B5EF4-FFF2-40B4-BE49-F238E27FC236}">
                <a16:creationId xmlns:a16="http://schemas.microsoft.com/office/drawing/2014/main" id="{3ACB0773-3D82-D23A-A206-A6457DA6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131" y="3423382"/>
            <a:ext cx="1268047" cy="333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2F2A31-C129-2298-9973-26A0E0FAA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C348361-AB5C-6CA6-17B7-60C4F576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5" y="514484"/>
            <a:ext cx="6136010" cy="1822687"/>
          </a:xfrm>
        </p:spPr>
        <p:txBody>
          <a:bodyPr anchor="t">
            <a:normAutofit/>
          </a:bodyPr>
          <a:lstStyle/>
          <a:p>
            <a:r>
              <a:rPr lang="pl-PL" sz="3600" baseline="0">
                <a:solidFill>
                  <a:srgbClr val="FFFFFF"/>
                </a:solidFill>
                <a:latin typeface="Neue Haas Grotesk Text Pro"/>
              </a:rPr>
              <a:t>📜</a:t>
            </a:r>
            <a:r>
              <a:rPr lang="pl-PL" sz="3600" b="1" baseline="0">
                <a:solidFill>
                  <a:srgbClr val="FFFFFF"/>
                </a:solidFill>
                <a:latin typeface="Neue Haas Grotesk Text Pro"/>
              </a:rPr>
              <a:t>Krótka historia wina</a:t>
            </a:r>
            <a:endParaRPr lang="pl-PL" sz="360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4CF9BC-8926-C857-2B84-F8593834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559AAB-3084-3138-A0F0-B415E713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37" y="1231456"/>
            <a:ext cx="6361997" cy="585461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</a:pPr>
            <a:endParaRPr lang="pl-PL" b="1"/>
          </a:p>
          <a:p>
            <a:pPr>
              <a:lnSpc>
                <a:spcPct val="110000"/>
              </a:lnSpc>
            </a:pPr>
            <a:r>
              <a:rPr lang="pl-PL" sz="2000">
                <a:ea typeface="+mn-lt"/>
                <a:cs typeface="+mn-lt"/>
              </a:rPr>
              <a:t>🏺 Pierwsze ślady produkcji wina pochodzą sprzed </a:t>
            </a:r>
            <a:r>
              <a:rPr lang="pl-PL" sz="2000" b="1">
                <a:ea typeface="+mn-lt"/>
                <a:cs typeface="+mn-lt"/>
              </a:rPr>
              <a:t>około 6000 lat</a:t>
            </a:r>
            <a:r>
              <a:rPr lang="pl-PL" sz="2000">
                <a:ea typeface="+mn-lt"/>
                <a:cs typeface="+mn-lt"/>
              </a:rPr>
              <a:t> z terenów dzisiejszej Gruzji.</a:t>
            </a:r>
            <a:endParaRPr lang="pl-PL" sz="2000"/>
          </a:p>
          <a:p>
            <a:pPr>
              <a:lnSpc>
                <a:spcPct val="110000"/>
              </a:lnSpc>
            </a:pPr>
            <a:r>
              <a:rPr lang="pl-PL" sz="2000">
                <a:ea typeface="+mn-lt"/>
                <a:cs typeface="+mn-lt"/>
              </a:rPr>
              <a:t>       Grecy uważali wino za dar od bogów – pili je rozcieńczone wodą (bo ponoć „trzeźwość to cnota”).</a:t>
            </a:r>
            <a:endParaRPr lang="pl-PL" sz="2000"/>
          </a:p>
          <a:p>
            <a:pPr>
              <a:lnSpc>
                <a:spcPct val="110000"/>
              </a:lnSpc>
            </a:pPr>
            <a:r>
              <a:rPr lang="pl-PL" sz="2000">
                <a:ea typeface="+mn-lt"/>
                <a:cs typeface="+mn-lt"/>
              </a:rPr>
              <a:t>      Rzymianie rozwinęli kulturę picia wina, a Bachus stał się ich patronem.</a:t>
            </a:r>
            <a:endParaRPr lang="pl-PL" sz="2000"/>
          </a:p>
          <a:p>
            <a:pPr>
              <a:lnSpc>
                <a:spcPct val="110000"/>
              </a:lnSpc>
            </a:pPr>
            <a:r>
              <a:rPr lang="pl-PL" sz="2000">
                <a:ea typeface="+mn-lt"/>
                <a:cs typeface="+mn-lt"/>
              </a:rPr>
              <a:t>🍾 W średniowieczu wino ratowało życie – często było </a:t>
            </a:r>
            <a:r>
              <a:rPr lang="pl-PL" sz="2000" b="1">
                <a:ea typeface="+mn-lt"/>
                <a:cs typeface="+mn-lt"/>
              </a:rPr>
              <a:t>czystsze niż woda</a:t>
            </a:r>
            <a:r>
              <a:rPr lang="pl-PL" sz="2000">
                <a:ea typeface="+mn-lt"/>
                <a:cs typeface="+mn-lt"/>
              </a:rPr>
              <a:t>.</a:t>
            </a:r>
            <a:endParaRPr lang="pl-PL" sz="2000"/>
          </a:p>
          <a:p>
            <a:pPr>
              <a:lnSpc>
                <a:spcPct val="110000"/>
              </a:lnSpc>
            </a:pPr>
            <a:r>
              <a:rPr lang="pl-PL" sz="2000">
                <a:ea typeface="+mn-lt"/>
                <a:cs typeface="+mn-lt"/>
              </a:rPr>
              <a:t>🤖 Dziś analizujemy je… </a:t>
            </a:r>
            <a:r>
              <a:rPr lang="pl-PL" sz="2000" b="1">
                <a:ea typeface="+mn-lt"/>
                <a:cs typeface="+mn-lt"/>
              </a:rPr>
              <a:t>modelami uczenia maszynowego.</a:t>
            </a:r>
            <a:r>
              <a:rPr lang="pl-PL" sz="2000">
                <a:ea typeface="+mn-lt"/>
                <a:cs typeface="+mn-lt"/>
              </a:rPr>
              <a:t> Bachus by się chyba nie spodziewał.</a:t>
            </a:r>
            <a:endParaRPr lang="pl-PL" sz="2000"/>
          </a:p>
          <a:p>
            <a:pPr>
              <a:lnSpc>
                <a:spcPct val="110000"/>
              </a:lnSpc>
            </a:pPr>
            <a:endParaRPr lang="pl-PL" b="1"/>
          </a:p>
          <a:p>
            <a:pPr>
              <a:lnSpc>
                <a:spcPct val="110000"/>
              </a:lnSpc>
            </a:pPr>
            <a:endParaRPr lang="pl-PL" sz="1100"/>
          </a:p>
        </p:txBody>
      </p:sp>
      <p:pic>
        <p:nvPicPr>
          <p:cNvPr id="10" name="Obraz 9" descr="Dionizos Michała Anioła">
            <a:extLst>
              <a:ext uri="{FF2B5EF4-FFF2-40B4-BE49-F238E27FC236}">
                <a16:creationId xmlns:a16="http://schemas.microsoft.com/office/drawing/2014/main" id="{6A959A92-F698-0F2D-C05E-B1F520E2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" r="1" b="16258"/>
          <a:stretch>
            <a:fillRect/>
          </a:stretch>
        </p:blipFill>
        <p:spPr>
          <a:xfrm>
            <a:off x="7156290" y="78539"/>
            <a:ext cx="4963886" cy="6700922"/>
          </a:xfrm>
          <a:custGeom>
            <a:avLst/>
            <a:gdLst/>
            <a:ahLst/>
            <a:cxnLst/>
            <a:rect l="l" t="t" r="r" b="b"/>
            <a:pathLst>
              <a:path w="4963886" h="6700922">
                <a:moveTo>
                  <a:pt x="678017" y="0"/>
                </a:moveTo>
                <a:lnTo>
                  <a:pt x="4285869" y="0"/>
                </a:lnTo>
                <a:cubicBezTo>
                  <a:pt x="4660327" y="0"/>
                  <a:pt x="4963886" y="303559"/>
                  <a:pt x="4963886" y="678017"/>
                </a:cubicBezTo>
                <a:lnTo>
                  <a:pt x="4963886" y="6022905"/>
                </a:lnTo>
                <a:cubicBezTo>
                  <a:pt x="4963886" y="6397363"/>
                  <a:pt x="4660327" y="6700922"/>
                  <a:pt x="4285869" y="6700922"/>
                </a:cubicBezTo>
                <a:lnTo>
                  <a:pt x="678017" y="6700922"/>
                </a:lnTo>
                <a:cubicBezTo>
                  <a:pt x="303559" y="6700922"/>
                  <a:pt x="0" y="6397363"/>
                  <a:pt x="0" y="6022905"/>
                </a:cubicBezTo>
                <a:lnTo>
                  <a:pt x="0" y="678017"/>
                </a:lnTo>
                <a:cubicBezTo>
                  <a:pt x="0" y="303559"/>
                  <a:pt x="303559" y="0"/>
                  <a:pt x="678017" y="0"/>
                </a:cubicBezTo>
                <a:close/>
              </a:path>
            </a:pathLst>
          </a:cu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0ED77A4-65C4-DF20-2D25-80D768B2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61F7DEA-F383-5098-A47E-2E110223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2C4D274F-D6EA-7E18-2BE2-C52B2BBFC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83076" y="3760542"/>
            <a:ext cx="328615" cy="219020"/>
          </a:xfrm>
          <a:prstGeom prst="rect">
            <a:avLst/>
          </a:prstGeom>
        </p:spPr>
      </p:pic>
      <p:pic>
        <p:nvPicPr>
          <p:cNvPr id="7" name="Grafika 6">
            <a:extLst>
              <a:ext uri="{FF2B5EF4-FFF2-40B4-BE49-F238E27FC236}">
                <a16:creationId xmlns:a16="http://schemas.microsoft.com/office/drawing/2014/main" id="{94DE9894-6FBD-F6D7-63C3-728C8BBB05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85232" y="2617543"/>
            <a:ext cx="345674" cy="2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9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2F2A31-C129-2298-9973-26A0E0FAA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1821DCB-EBD2-8391-B182-759AAF775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4" y="335190"/>
            <a:ext cx="5049041" cy="18114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3400" b="0"/>
              <a:t>🍷 </a:t>
            </a:r>
            <a:r>
              <a:rPr lang="pl-PL" sz="3400"/>
              <a:t>Bachus – patron wina, zabawy i... analizy sensorycznej?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B62E2C-326F-6305-C7D2-A2769F32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4BDBA48-263B-BADB-F0DA-84029E673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31" y="2888253"/>
            <a:ext cx="5062115" cy="3547872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pl-PL" b="1"/>
          </a:p>
          <a:p>
            <a:pPr marL="0" indent="0">
              <a:lnSpc>
                <a:spcPct val="110000"/>
              </a:lnSpc>
              <a:buNone/>
            </a:pPr>
            <a:r>
              <a:rPr lang="pl-PL">
                <a:ea typeface="+mn-lt"/>
                <a:cs typeface="+mn-lt"/>
              </a:rPr>
              <a:t>Bachus (u Greków znany jako </a:t>
            </a:r>
            <a:r>
              <a:rPr lang="pl-PL" b="1">
                <a:ea typeface="+mn-lt"/>
                <a:cs typeface="+mn-lt"/>
              </a:rPr>
              <a:t>Dionizos</a:t>
            </a:r>
            <a:r>
              <a:rPr lang="pl-PL">
                <a:ea typeface="+mn-lt"/>
                <a:cs typeface="+mn-lt"/>
              </a:rPr>
              <a:t>) był bogiem: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>
                <a:ea typeface="+mn-lt"/>
                <a:cs typeface="+mn-lt"/>
              </a:rPr>
              <a:t>wina,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>
                <a:ea typeface="+mn-lt"/>
                <a:cs typeface="+mn-lt"/>
              </a:rPr>
              <a:t>radości,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>
                <a:ea typeface="+mn-lt"/>
                <a:cs typeface="+mn-lt"/>
              </a:rPr>
              <a:t>płodności,</a:t>
            </a:r>
            <a:endParaRPr lang="pl-PL"/>
          </a:p>
          <a:p>
            <a:pPr>
              <a:lnSpc>
                <a:spcPct val="110000"/>
              </a:lnSpc>
            </a:pPr>
            <a:r>
              <a:rPr lang="pl-PL">
                <a:ea typeface="+mn-lt"/>
                <a:cs typeface="+mn-lt"/>
              </a:rPr>
              <a:t>i wszystkiego, co kończy się słowem „impreza”. 🎉</a:t>
            </a:r>
            <a:endParaRPr lang="pl-PL"/>
          </a:p>
          <a:p>
            <a:pPr marL="0" indent="0">
              <a:lnSpc>
                <a:spcPct val="110000"/>
              </a:lnSpc>
              <a:buNone/>
            </a:pPr>
            <a:r>
              <a:rPr lang="pl-PL">
                <a:ea typeface="+mn-lt"/>
                <a:cs typeface="+mn-lt"/>
              </a:rPr>
              <a:t>Według mitu Bachus podróżował po świecie, ucząc ludzi, jak uprawiać winorośl i robić wino —czyli był pierwszym </a:t>
            </a:r>
            <a:r>
              <a:rPr lang="pl-PL" b="1" err="1">
                <a:ea typeface="+mn-lt"/>
                <a:cs typeface="+mn-lt"/>
              </a:rPr>
              <a:t>influencerem</a:t>
            </a:r>
            <a:r>
              <a:rPr lang="pl-PL" b="1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enologicznym</a:t>
            </a:r>
            <a:r>
              <a:rPr lang="pl-PL">
                <a:ea typeface="+mn-lt"/>
                <a:cs typeface="+mn-lt"/>
              </a:rPr>
              <a:t> 🍇📱</a:t>
            </a:r>
            <a:endParaRPr lang="pl-PL"/>
          </a:p>
          <a:p>
            <a:pPr>
              <a:lnSpc>
                <a:spcPct val="110000"/>
              </a:lnSpc>
            </a:pPr>
            <a:endParaRPr lang="pl-PL" sz="1500"/>
          </a:p>
        </p:txBody>
      </p:sp>
      <p:pic>
        <p:nvPicPr>
          <p:cNvPr id="7" name="Obraz 6" descr="Bachus autorstwa Baccio del Bianco">
            <a:extLst>
              <a:ext uri="{FF2B5EF4-FFF2-40B4-BE49-F238E27FC236}">
                <a16:creationId xmlns:a16="http://schemas.microsoft.com/office/drawing/2014/main" id="{D3368630-A239-880A-521F-2EDECE5D0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r="1" b="3407"/>
          <a:stretch>
            <a:fillRect/>
          </a:stretch>
        </p:blipFill>
        <p:spPr>
          <a:xfrm>
            <a:off x="7156290" y="78539"/>
            <a:ext cx="4963886" cy="6700922"/>
          </a:xfrm>
          <a:custGeom>
            <a:avLst/>
            <a:gdLst/>
            <a:ahLst/>
            <a:cxnLst/>
            <a:rect l="l" t="t" r="r" b="b"/>
            <a:pathLst>
              <a:path w="4963886" h="6700922">
                <a:moveTo>
                  <a:pt x="678017" y="0"/>
                </a:moveTo>
                <a:lnTo>
                  <a:pt x="4285869" y="0"/>
                </a:lnTo>
                <a:cubicBezTo>
                  <a:pt x="4660327" y="0"/>
                  <a:pt x="4963886" y="303559"/>
                  <a:pt x="4963886" y="678017"/>
                </a:cubicBezTo>
                <a:lnTo>
                  <a:pt x="4963886" y="6022905"/>
                </a:lnTo>
                <a:cubicBezTo>
                  <a:pt x="4963886" y="6397363"/>
                  <a:pt x="4660327" y="6700922"/>
                  <a:pt x="4285869" y="6700922"/>
                </a:cubicBezTo>
                <a:lnTo>
                  <a:pt x="678017" y="6700922"/>
                </a:lnTo>
                <a:cubicBezTo>
                  <a:pt x="303559" y="6700922"/>
                  <a:pt x="0" y="6397363"/>
                  <a:pt x="0" y="6022905"/>
                </a:cubicBezTo>
                <a:lnTo>
                  <a:pt x="0" y="678017"/>
                </a:lnTo>
                <a:cubicBezTo>
                  <a:pt x="0" y="303559"/>
                  <a:pt x="303559" y="0"/>
                  <a:pt x="678017" y="0"/>
                </a:cubicBezTo>
                <a:close/>
              </a:path>
            </a:pathLst>
          </a:cu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8E10D8-4878-F8BF-5D19-9843074B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1653DD0-012B-E2C3-07A1-8E23CFA8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56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Wyjazdy winiarskie – Misja Wino | Kondrat Wina Wybrane">
            <a:extLst>
              <a:ext uri="{FF2B5EF4-FFF2-40B4-BE49-F238E27FC236}">
                <a16:creationId xmlns:a16="http://schemas.microsoft.com/office/drawing/2014/main" id="{F1270350-C889-1010-5D90-6ECD78C9F4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1" r="-1" b="-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B17514E-A6FB-E691-BEE8-378E57EA2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2000" cy="4043806"/>
          </a:xfrm>
          <a:prstGeom prst="rect">
            <a:avLst/>
          </a:prstGeom>
          <a:gradFill>
            <a:gsLst>
              <a:gs pos="55000">
                <a:srgbClr val="000000">
                  <a:alpha val="2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952F34F-0117-52A3-0EDA-14BB27B65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 w 12192000"/>
              <a:gd name="connsiteY1" fmla="*/ 0 h 6858000"/>
              <a:gd name="connsiteX2" fmla="*/ 1 w 12192000"/>
              <a:gd name="connsiteY2" fmla="*/ 4898693 h 6858000"/>
              <a:gd name="connsiteX3" fmla="*/ 13428 w 12192000"/>
              <a:gd name="connsiteY3" fmla="*/ 5031883 h 6858000"/>
              <a:gd name="connsiteX4" fmla="*/ 660931 w 12192000"/>
              <a:gd name="connsiteY4" fmla="*/ 5559613 h 6858000"/>
              <a:gd name="connsiteX5" fmla="*/ 11531069 w 12192000"/>
              <a:gd name="connsiteY5" fmla="*/ 5559613 h 6858000"/>
              <a:gd name="connsiteX6" fmla="*/ 12192000 w 12192000"/>
              <a:gd name="connsiteY6" fmla="*/ 4898682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" y="0"/>
                </a:lnTo>
                <a:lnTo>
                  <a:pt x="1" y="4898693"/>
                </a:lnTo>
                <a:lnTo>
                  <a:pt x="13428" y="5031883"/>
                </a:lnTo>
                <a:cubicBezTo>
                  <a:pt x="75057" y="5333058"/>
                  <a:pt x="341537" y="5559613"/>
                  <a:pt x="660931" y="5559613"/>
                </a:cubicBezTo>
                <a:lnTo>
                  <a:pt x="11531069" y="5559613"/>
                </a:lnTo>
                <a:cubicBezTo>
                  <a:pt x="11896091" y="5559613"/>
                  <a:pt x="12192000" y="5263704"/>
                  <a:pt x="12192000" y="4898682"/>
                </a:cubicBez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3B5BF4D-D223-3F96-3504-68B736DD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428" y="384561"/>
            <a:ext cx="4552400" cy="9315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err="1">
                <a:solidFill>
                  <a:srgbClr val="FFFFFF"/>
                </a:solidFill>
              </a:rPr>
              <a:t>Słudzy</a:t>
            </a:r>
            <a:r>
              <a:rPr lang="en-US" sz="4800">
                <a:solidFill>
                  <a:srgbClr val="FFFFFF"/>
                </a:solidFill>
              </a:rPr>
              <a:t> </a:t>
            </a:r>
            <a:r>
              <a:rPr lang="en-US" sz="4800" err="1">
                <a:solidFill>
                  <a:srgbClr val="FFFFFF"/>
                </a:solidFill>
              </a:rPr>
              <a:t>Bachusa</a:t>
            </a:r>
            <a:br>
              <a:rPr lang="en-US" sz="4800"/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6534B0-3D0C-B4A3-E6DC-0082E70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5911683"/>
            <a:ext cx="11217949" cy="55694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pl-PL" sz="2800" b="1"/>
              <a:t>Połączyć boską inspirację z nauką i przewidzieć jakość wina lepiej niż sam bóg 🍷😎</a:t>
            </a:r>
            <a:endParaRPr lang="pl-PL" sz="280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D1ABB0-02A6-624B-6CDB-90663AE9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10/11/2025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8E3019-1D1F-DEA7-6F99-49B961CB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6990733-4CAC-1D2B-5BBD-D2C30F2C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16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4345DC-EB2E-A891-253E-7F084E74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/>
              <a:t>Produkcja i konsumpcja wina 2024</a:t>
            </a:r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8E83A5D9-0327-4E33-89A7-09CD3194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>
                <a:ea typeface="+mn-lt"/>
                <a:cs typeface="+mn-lt"/>
              </a:rPr>
              <a:t>🏭</a:t>
            </a:r>
            <a:r>
              <a:rPr lang="pl-PL"/>
              <a:t> Produkcja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ECA36F-8699-D296-BE6B-E840409EE9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pl-PL"/>
              <a:t>225,8 mln hektolitrów  - spadek 5% YoY</a:t>
            </a:r>
          </a:p>
          <a:p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TOP producenci:</a:t>
            </a:r>
            <a:endParaRPr lang="pl-PL" sz="1200">
              <a:solidFill>
                <a:srgbClr val="212529"/>
              </a:solidFill>
              <a:latin typeface="Arial"/>
              <a:cs typeface="Arial"/>
            </a:endParaRP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Włochy - 44,2 mln </a:t>
            </a:r>
            <a:r>
              <a:rPr lang="pl-PL" err="1">
                <a:solidFill>
                  <a:srgbClr val="FFFFFF"/>
                </a:solidFill>
                <a:latin typeface="Neue Haas Grotesk Text Pro"/>
                <a:cs typeface="Arial"/>
              </a:rPr>
              <a:t>hl</a:t>
            </a:r>
            <a:endParaRPr lang="pl-PL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Francja – 36,9 mln </a:t>
            </a:r>
            <a:r>
              <a:rPr lang="pl-PL" err="1">
                <a:solidFill>
                  <a:srgbClr val="FFFFFF"/>
                </a:solidFill>
                <a:latin typeface="Neue Haas Grotesk Text Pro"/>
                <a:cs typeface="Arial"/>
              </a:rPr>
              <a:t>hl</a:t>
            </a:r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 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Hiszpania – 33,6 mln </a:t>
            </a:r>
            <a:r>
              <a:rPr lang="pl-PL" err="1">
                <a:solidFill>
                  <a:srgbClr val="FFFFFF"/>
                </a:solidFill>
                <a:latin typeface="Neue Haas Grotesk Text Pro"/>
                <a:cs typeface="Arial"/>
              </a:rPr>
              <a:t>hl</a:t>
            </a:r>
            <a:r>
              <a:rPr lang="pl-PL">
                <a:solidFill>
                  <a:srgbClr val="FFFFFF"/>
                </a:solidFill>
                <a:latin typeface="Neue Haas Grotesk Text Pro"/>
                <a:cs typeface="Arial"/>
              </a:rPr>
              <a:t> </a:t>
            </a:r>
          </a:p>
          <a:p>
            <a:pPr marL="0" indent="0">
              <a:buNone/>
            </a:pPr>
            <a:endParaRPr lang="pl-PL" sz="13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53D90CC5-17B5-1BB0-E28B-D2506D9FB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>
                <a:ea typeface="+mn-lt"/>
                <a:cs typeface="+mn-lt"/>
              </a:rPr>
              <a:t>🍷</a:t>
            </a:r>
            <a:r>
              <a:rPr lang="pl-PL"/>
              <a:t> Konsumpcja</a:t>
            </a:r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0AC79DED-8AB2-1AA3-F001-D119BFD3B8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214,2 mln hektolitrów - spadek o 3.3% YoY</a:t>
            </a:r>
          </a:p>
          <a:p>
            <a:r>
              <a:rPr lang="pl-PL"/>
              <a:t>TOP konsumenci: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/>
              <a:t>USA 33 mln </a:t>
            </a:r>
            <a:r>
              <a:rPr lang="pl-PL" err="1"/>
              <a:t>hl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/>
              <a:t>Francja 23 mln </a:t>
            </a:r>
            <a:r>
              <a:rPr lang="pl-PL" err="1"/>
              <a:t>hl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/>
              <a:t>Włochy 22.3 mln </a:t>
            </a:r>
            <a:r>
              <a:rPr lang="pl-PL" err="1"/>
              <a:t>hl</a:t>
            </a:r>
            <a:endParaRPr lang="pl-PL"/>
          </a:p>
          <a:p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06D1E8-5B49-8F77-89B4-F12FEEE2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34E4105-E40E-0917-8CF8-43D052E6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8580B7-E74C-C4E3-BA73-9F12C4AE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5</a:t>
            </a:fld>
            <a:endParaRPr lang="en-US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309D524D-CF09-A1A3-B9CF-C33C4F8F8500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2" name="Grafika 11">
            <a:extLst>
              <a:ext uri="{FF2B5EF4-FFF2-40B4-BE49-F238E27FC236}">
                <a16:creationId xmlns:a16="http://schemas.microsoft.com/office/drawing/2014/main" id="{C0E0B452-CF80-7FBF-91E3-8D7E1B9CD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84895" y="3899089"/>
            <a:ext cx="409432" cy="276746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5DBB7E82-E246-5AB3-8498-8603DD835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4896" y="4297148"/>
            <a:ext cx="398060" cy="265374"/>
          </a:xfrm>
          <a:prstGeom prst="rect">
            <a:avLst/>
          </a:prstGeom>
        </p:spPr>
      </p:pic>
      <p:pic>
        <p:nvPicPr>
          <p:cNvPr id="17" name="Grafika 16">
            <a:extLst>
              <a:ext uri="{FF2B5EF4-FFF2-40B4-BE49-F238E27FC236}">
                <a16:creationId xmlns:a16="http://schemas.microsoft.com/office/drawing/2014/main" id="{4623976C-4727-F190-9285-1B866E837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1821" y="4297148"/>
            <a:ext cx="398060" cy="265374"/>
          </a:xfrm>
          <a:prstGeom prst="rect">
            <a:avLst/>
          </a:prstGeom>
        </p:spPr>
      </p:pic>
      <p:pic>
        <p:nvPicPr>
          <p:cNvPr id="18" name="Grafika 17">
            <a:extLst>
              <a:ext uri="{FF2B5EF4-FFF2-40B4-BE49-F238E27FC236}">
                <a16:creationId xmlns:a16="http://schemas.microsoft.com/office/drawing/2014/main" id="{90764939-AA92-D8DE-5FAA-B0A59AF301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5493" y="4649716"/>
            <a:ext cx="398061" cy="254001"/>
          </a:xfrm>
          <a:prstGeom prst="rect">
            <a:avLst/>
          </a:prstGeom>
        </p:spPr>
      </p:pic>
      <p:pic>
        <p:nvPicPr>
          <p:cNvPr id="19" name="Grafika 18">
            <a:extLst>
              <a:ext uri="{FF2B5EF4-FFF2-40B4-BE49-F238E27FC236}">
                <a16:creationId xmlns:a16="http://schemas.microsoft.com/office/drawing/2014/main" id="{6952C23A-1A6E-AF57-E228-5FA088A4E2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0239" y="3906072"/>
            <a:ext cx="443553" cy="262780"/>
          </a:xfrm>
          <a:prstGeom prst="rect">
            <a:avLst/>
          </a:prstGeom>
        </p:spPr>
      </p:pic>
      <p:pic>
        <p:nvPicPr>
          <p:cNvPr id="20" name="Grafika 19">
            <a:extLst>
              <a:ext uri="{FF2B5EF4-FFF2-40B4-BE49-F238E27FC236}">
                <a16:creationId xmlns:a16="http://schemas.microsoft.com/office/drawing/2014/main" id="{79EBE6D2-ABCF-82FA-2422-3DF795C9C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962029" y="4626969"/>
            <a:ext cx="409432" cy="2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9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2F2A31-C129-2298-9973-26A0E0FAA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B0451F-F920-FFA0-EE45-7E7615FD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23" y="403444"/>
            <a:ext cx="6479319" cy="1823027"/>
          </a:xfrm>
        </p:spPr>
        <p:txBody>
          <a:bodyPr anchor="t">
            <a:normAutofit/>
          </a:bodyPr>
          <a:lstStyle/>
          <a:p>
            <a:r>
              <a:rPr lang="pl-PL" sz="3700" b="0">
                <a:ea typeface="+mj-lt"/>
                <a:cs typeface="+mj-lt"/>
              </a:rPr>
              <a:t>🍷 </a:t>
            </a:r>
            <a:r>
              <a:rPr lang="pl-PL" sz="3700">
                <a:ea typeface="+mj-lt"/>
                <a:cs typeface="+mj-lt"/>
              </a:rPr>
              <a:t>Jak na tym zarobić, zanim wszystko wypijemy?</a:t>
            </a:r>
            <a:endParaRPr lang="pl-PL" sz="370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845904-9837-F358-EBF9-0EACEC8C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3E8B95-1B1F-45A6-86CC-1002D79A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0" y="2074150"/>
            <a:ext cx="6453089" cy="4071934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🍇 producenci win – szybka, automatyczna ocena jakości partii bez panelu degustacyjnego,</a:t>
            </a:r>
            <a:endParaRPr lang="pl-PL" dirty="0"/>
          </a:p>
          <a:p>
            <a:pPr marL="0" indent="0">
              <a:buNone/>
            </a:pPr>
            <a:br>
              <a:rPr lang="pl-PL" sz="2000" dirty="0">
                <a:ea typeface="+mn-lt"/>
                <a:cs typeface="+mn-lt"/>
              </a:rPr>
            </a:br>
            <a:r>
              <a:rPr lang="pl-PL" sz="2000" dirty="0">
                <a:ea typeface="+mn-lt"/>
                <a:cs typeface="+mn-lt"/>
              </a:rPr>
              <a:t> 🧪 laboratoria i uczelnie – analiza i nauka wpływu </a:t>
            </a:r>
            <a:r>
              <a:rPr lang="pl-PL" sz="2000">
                <a:ea typeface="+mn-lt"/>
                <a:cs typeface="+mn-lt"/>
              </a:rPr>
              <a:t>cech chemicznych na jakość,</a:t>
            </a:r>
            <a:endParaRPr lang="pl-PL">
              <a:ea typeface="+mn-lt"/>
              <a:cs typeface="+mn-lt"/>
            </a:endParaRPr>
          </a:p>
          <a:p>
            <a:pPr marL="0" indent="0">
              <a:buNone/>
            </a:pPr>
            <a:br>
              <a:rPr lang="pl-PL" sz="2000" dirty="0">
                <a:ea typeface="+mn-lt"/>
                <a:cs typeface="+mn-lt"/>
              </a:rPr>
            </a:br>
            <a:r>
              <a:rPr lang="pl-PL" sz="2000" dirty="0">
                <a:ea typeface="+mn-lt"/>
                <a:cs typeface="+mn-lt"/>
              </a:rPr>
              <a:t> 🤖 pasjonaci – eksperymenty „co by było, gdyby” w profilu chemicznym wina,</a:t>
            </a:r>
            <a:endParaRPr lang="pl-PL" dirty="0">
              <a:ea typeface="+mn-lt"/>
              <a:cs typeface="+mn-lt"/>
            </a:endParaRPr>
          </a:p>
          <a:p>
            <a:pPr marL="0" indent="0">
              <a:buNone/>
            </a:pPr>
            <a:br>
              <a:rPr lang="pl-PL" sz="2000" dirty="0">
                <a:ea typeface="+mn-lt"/>
                <a:cs typeface="+mn-lt"/>
              </a:rPr>
            </a:br>
            <a:r>
              <a:rPr lang="pl-PL" sz="2000" dirty="0">
                <a:ea typeface="+mn-lt"/>
                <a:cs typeface="+mn-lt"/>
              </a:rPr>
              <a:t> 📊 rynek – możliwość tworzenia bazy danych i raportów o winach, platforma do </a:t>
            </a:r>
            <a:r>
              <a:rPr lang="pl-PL" sz="2000" err="1">
                <a:ea typeface="+mn-lt"/>
                <a:cs typeface="+mn-lt"/>
              </a:rPr>
              <a:t>benchmarkingu</a:t>
            </a:r>
            <a:r>
              <a:rPr lang="pl-PL" sz="2000" dirty="0">
                <a:ea typeface="+mn-lt"/>
                <a:cs typeface="+mn-lt"/>
              </a:rPr>
              <a:t> win</a:t>
            </a:r>
            <a:endParaRPr lang="pl-PL"/>
          </a:p>
        </p:txBody>
      </p:sp>
      <p:pic>
        <p:nvPicPr>
          <p:cNvPr id="9" name="Obraz 8" descr="Wesołe jest życie staruszka… - Blog o winie Winezja.pl | Winezja.pl">
            <a:extLst>
              <a:ext uri="{FF2B5EF4-FFF2-40B4-BE49-F238E27FC236}">
                <a16:creationId xmlns:a16="http://schemas.microsoft.com/office/drawing/2014/main" id="{D2C5D17A-2FD6-EBB2-42C6-E2E96F3A3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12" r="31212"/>
          <a:stretch>
            <a:fillRect/>
          </a:stretch>
        </p:blipFill>
        <p:spPr>
          <a:xfrm>
            <a:off x="7156290" y="78539"/>
            <a:ext cx="4963886" cy="6700922"/>
          </a:xfrm>
          <a:custGeom>
            <a:avLst/>
            <a:gdLst/>
            <a:ahLst/>
            <a:cxnLst/>
            <a:rect l="l" t="t" r="r" b="b"/>
            <a:pathLst>
              <a:path w="4963886" h="6700922">
                <a:moveTo>
                  <a:pt x="678017" y="0"/>
                </a:moveTo>
                <a:lnTo>
                  <a:pt x="4285869" y="0"/>
                </a:lnTo>
                <a:cubicBezTo>
                  <a:pt x="4660327" y="0"/>
                  <a:pt x="4963886" y="303559"/>
                  <a:pt x="4963886" y="678017"/>
                </a:cubicBezTo>
                <a:lnTo>
                  <a:pt x="4963886" y="6022905"/>
                </a:lnTo>
                <a:cubicBezTo>
                  <a:pt x="4963886" y="6397363"/>
                  <a:pt x="4660327" y="6700922"/>
                  <a:pt x="4285869" y="6700922"/>
                </a:cubicBezTo>
                <a:lnTo>
                  <a:pt x="678017" y="6700922"/>
                </a:lnTo>
                <a:cubicBezTo>
                  <a:pt x="303559" y="6700922"/>
                  <a:pt x="0" y="6397363"/>
                  <a:pt x="0" y="6022905"/>
                </a:cubicBezTo>
                <a:lnTo>
                  <a:pt x="0" y="678017"/>
                </a:lnTo>
                <a:cubicBezTo>
                  <a:pt x="0" y="303559"/>
                  <a:pt x="303559" y="0"/>
                  <a:pt x="678017" y="0"/>
                </a:cubicBezTo>
                <a:close/>
              </a:path>
            </a:pathLst>
          </a:cu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A8A6B6-2474-5905-58A0-A84F3D21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DBB482-A16F-8F1B-2BEA-B3D5BE1E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4376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D400-EF3D-978A-481C-66543E47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F4C2F-3A22-9CD9-41C2-7601C7AA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01" y="358945"/>
            <a:ext cx="9956747" cy="789669"/>
          </a:xfrm>
        </p:spPr>
        <p:txBody>
          <a:bodyPr/>
          <a:lstStyle/>
          <a:p>
            <a:r>
              <a:rPr lang="pl-PL" b="0">
                <a:ea typeface="+mj-lt"/>
                <a:cs typeface="+mj-lt"/>
              </a:rPr>
              <a:t>🧩</a:t>
            </a:r>
            <a:r>
              <a:rPr lang="pl-PL" sz="4000"/>
              <a:t>Dane wejściowe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FD85EF-CFCB-1602-5469-7DC5AE86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582" y="1152896"/>
            <a:ext cx="11676359" cy="54512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6497 rekordów : 75%  win białych</a:t>
            </a:r>
            <a:r>
              <a:rPr lang="pl-PL" dirty="0">
                <a:solidFill>
                  <a:srgbClr val="FFFFFF"/>
                </a:solidFill>
                <a:ea typeface="+mn-lt"/>
                <a:cs typeface="+mn-lt"/>
              </a:rPr>
              <a:t>🥂</a:t>
            </a: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, 25%  win czerwonych</a:t>
            </a:r>
            <a:r>
              <a:rPr lang="pl-PL" dirty="0">
                <a:solidFill>
                  <a:srgbClr val="FFFFFF"/>
                </a:solidFill>
                <a:ea typeface="+mn-lt"/>
                <a:cs typeface="+mn-lt"/>
              </a:rPr>
              <a:t>🍷</a:t>
            </a:r>
            <a:endParaRPr lang="pl-PL" dirty="0"/>
          </a:p>
          <a:p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12 cech win mających wpływ na jakość: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Kwasowość stała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Kwasowość lotna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Kwas cytrynowy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Cukier resztkowy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Chlorki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Wolny dwutlenek siarki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Całkowity dwutlenek siarki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Gęstość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 err="1">
                <a:solidFill>
                  <a:srgbClr val="FFFFFF"/>
                </a:solidFill>
                <a:latin typeface="Neue Haas Grotesk Text Pro"/>
                <a:cs typeface="Arial"/>
              </a:rPr>
              <a:t>pH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Siarczany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Alkohol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Typ   </a:t>
            </a:r>
            <a:endParaRPr lang="en-US" dirty="0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r>
              <a:rPr lang="pl-PL" dirty="0">
                <a:solidFill>
                  <a:srgbClr val="FFFFFF"/>
                </a:solidFill>
                <a:latin typeface="Neue Haas Grotesk Text Pro"/>
                <a:cs typeface="Arial"/>
              </a:rPr>
              <a:t>Standard </a:t>
            </a:r>
            <a:r>
              <a:rPr lang="pl-PL" dirty="0" err="1">
                <a:solidFill>
                  <a:srgbClr val="FFFFFF"/>
                </a:solidFill>
                <a:latin typeface="Neue Haas Grotesk Text Pro"/>
                <a:cs typeface="Arial"/>
              </a:rPr>
              <a:t>Scaler</a:t>
            </a:r>
          </a:p>
          <a:p>
            <a:pPr marL="228600" lvl="1" indent="0">
              <a:buNone/>
            </a:pPr>
            <a:endParaRPr lang="pl-PL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pPr marL="514350" lvl="1" indent="-285750">
              <a:buFont typeface="Wingdings" panose="020B0504020202020204" pitchFamily="34" charset="0"/>
              <a:buChar char="§"/>
            </a:pPr>
            <a:endParaRPr lang="pl-PL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endParaRPr lang="pl-PL">
              <a:solidFill>
                <a:srgbClr val="FFFFFF"/>
              </a:solidFill>
              <a:latin typeface="Neue Haas Grotesk Text Pro"/>
              <a:cs typeface="Arial"/>
            </a:endParaRPr>
          </a:p>
          <a:p>
            <a:endParaRPr lang="pl-PL">
              <a:solidFill>
                <a:srgbClr val="FFFFFF"/>
              </a:solidFill>
              <a:latin typeface="Neue Haas Grotesk Text Pro"/>
              <a:cs typeface="Arial"/>
            </a:endParaRP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3DE96B-355C-00FB-329C-03E129D7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B5F78C-DC42-4547-F02B-B8324790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BB6439-2460-1CE2-7D8C-D8857844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7</a:t>
            </a:fld>
            <a:endParaRPr lang="en-US"/>
          </a:p>
        </p:txBody>
      </p:sp>
      <p:pic>
        <p:nvPicPr>
          <p:cNvPr id="8" name="Obraz 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3E6BA53-EFDE-6BA8-6444-8BD232A2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696" y="2105994"/>
            <a:ext cx="5242502" cy="4120200"/>
          </a:xfrm>
          <a:prstGeom prst="rect">
            <a:avLst/>
          </a:prstGeom>
        </p:spPr>
      </p:pic>
      <p:sp>
        <p:nvSpPr>
          <p:cNvPr id="9" name="Prostokąt 8">
            <a:extLst>
              <a:ext uri="{FF2B5EF4-FFF2-40B4-BE49-F238E27FC236}">
                <a16:creationId xmlns:a16="http://schemas.microsoft.com/office/drawing/2014/main" id="{51819EED-4AEB-B923-C9C3-A6435D60C967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340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8BB152-6D68-F429-B7BE-B92E1850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826" y="2110746"/>
            <a:ext cx="2833703" cy="1438780"/>
          </a:xfrm>
        </p:spPr>
        <p:txBody>
          <a:bodyPr>
            <a:normAutofit fontScale="90000"/>
          </a:bodyPr>
          <a:lstStyle/>
          <a:p>
            <a:pPr algn="ctr"/>
            <a:br>
              <a:rPr lang="pl-PL"/>
            </a:br>
            <a:br>
              <a:rPr lang="pl-PL"/>
            </a:br>
            <a:br>
              <a:rPr lang="pl-PL"/>
            </a:br>
            <a:r>
              <a:rPr lang="pl-PL">
                <a:ea typeface="+mj-lt"/>
                <a:cs typeface="+mj-lt"/>
              </a:rPr>
              <a:t>Chemia między danymi</a:t>
            </a:r>
            <a:r>
              <a:rPr lang="pl-PL" b="0">
                <a:ea typeface="+mj-lt"/>
                <a:cs typeface="+mj-lt"/>
              </a:rPr>
              <a:t> ⚗️✨</a:t>
            </a:r>
            <a:br>
              <a:rPr lang="pl-PL" b="0"/>
            </a:br>
            <a:r>
              <a:rPr lang="pl-PL"/>
              <a:t> 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79BF87-6E06-A6D3-3A0D-E67C223B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F387753-5933-AB46-8155-2872420B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8</a:t>
            </a:fld>
            <a:endParaRPr lang="en-US"/>
          </a:p>
        </p:txBody>
      </p:sp>
      <p:pic>
        <p:nvPicPr>
          <p:cNvPr id="10" name="Symbol zastępczy zawartości 9" descr="Obraz zawierający wzór, zrzut ekranu, tekst, kwadrat&#10;&#10;Zawartość wygenerowana przez AI może być niepoprawna.">
            <a:extLst>
              <a:ext uri="{FF2B5EF4-FFF2-40B4-BE49-F238E27FC236}">
                <a16:creationId xmlns:a16="http://schemas.microsoft.com/office/drawing/2014/main" id="{1B7F716E-905D-F616-B2E0-6F861FF13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9659" y="244899"/>
            <a:ext cx="8621215" cy="61897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36F3903-2F88-EBFA-AE9F-3CB4042F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864A421D-C417-7492-0F53-2F906264C1B5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70586AA-1B93-D6EA-41EF-E83F611FAA00}"/>
              </a:ext>
            </a:extLst>
          </p:cNvPr>
          <p:cNvSpPr txBox="1"/>
          <p:nvPr/>
        </p:nvSpPr>
        <p:spPr>
          <a:xfrm>
            <a:off x="507813" y="3541374"/>
            <a:ext cx="28240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czyli wykres korelacji</a:t>
            </a:r>
          </a:p>
        </p:txBody>
      </p:sp>
    </p:spTree>
    <p:extLst>
      <p:ext uri="{BB962C8B-B14F-4D97-AF65-F5344CB8AC3E}">
        <p14:creationId xmlns:p14="http://schemas.microsoft.com/office/powerpoint/2010/main" val="4024446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3D8FF62-652A-F48D-7206-16657E0B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09FC57-A12F-3F1D-F991-260D4E51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pic>
        <p:nvPicPr>
          <p:cNvPr id="23" name="Symbol zastępczy zawartości 22" descr="Obraz zawierający tekst, zrzut ekranu, Czcionka, menu&#10;&#10;Zawartość wygenerowana przez AI może być niepoprawna.">
            <a:extLst>
              <a:ext uri="{FF2B5EF4-FFF2-40B4-BE49-F238E27FC236}">
                <a16:creationId xmlns:a16="http://schemas.microsoft.com/office/drawing/2014/main" id="{0D5A7774-68D0-6354-F932-00D71A356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029" y="611548"/>
            <a:ext cx="5405108" cy="5999887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1AC9267-D358-76B1-027F-548AF721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727012-AABC-CAC4-86D9-CE83A9EA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4" name="Obraz 3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732998C1-8226-5D6D-A446-0B4F4FD17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658" y="754591"/>
            <a:ext cx="5689600" cy="5846233"/>
          </a:xfrm>
          <a:prstGeom prst="rect">
            <a:avLst/>
          </a:prstGeom>
        </p:spPr>
      </p:pic>
      <p:sp>
        <p:nvSpPr>
          <p:cNvPr id="39" name="Tytuł 1">
            <a:extLst>
              <a:ext uri="{FF2B5EF4-FFF2-40B4-BE49-F238E27FC236}">
                <a16:creationId xmlns:a16="http://schemas.microsoft.com/office/drawing/2014/main" id="{3F199D38-05AD-3368-CC4C-4FCDF5FEC018}"/>
              </a:ext>
            </a:extLst>
          </p:cNvPr>
          <p:cNvSpPr txBox="1">
            <a:spLocks/>
          </p:cNvSpPr>
          <p:nvPr/>
        </p:nvSpPr>
        <p:spPr>
          <a:xfrm>
            <a:off x="592850" y="678"/>
            <a:ext cx="13064312" cy="18687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300">
                <a:ea typeface="+mj-lt"/>
                <a:cs typeface="+mj-lt"/>
              </a:rPr>
              <a:t>Niektóre cechy rządzą smakiem, inne tylko udają</a:t>
            </a:r>
            <a:r>
              <a:rPr lang="pl-PL" sz="3300" b="0">
                <a:ea typeface="+mj-lt"/>
                <a:cs typeface="+mj-lt"/>
              </a:rPr>
              <a:t>📊🍷</a:t>
            </a:r>
            <a:endParaRPr lang="en-US" sz="3300"/>
          </a:p>
        </p:txBody>
      </p:sp>
      <p:sp>
        <p:nvSpPr>
          <p:cNvPr id="46" name="Prostokąt 45">
            <a:extLst>
              <a:ext uri="{FF2B5EF4-FFF2-40B4-BE49-F238E27FC236}">
                <a16:creationId xmlns:a16="http://schemas.microsoft.com/office/drawing/2014/main" id="{9D9306A0-7C9C-8D7C-E5AA-5C8BA25FD8A5}"/>
              </a:ext>
            </a:extLst>
          </p:cNvPr>
          <p:cNvSpPr/>
          <p:nvPr/>
        </p:nvSpPr>
        <p:spPr>
          <a:xfrm>
            <a:off x="6201833" y="5513916"/>
            <a:ext cx="4042832" cy="1090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7" name="Prostokąt 46">
            <a:extLst>
              <a:ext uri="{FF2B5EF4-FFF2-40B4-BE49-F238E27FC236}">
                <a16:creationId xmlns:a16="http://schemas.microsoft.com/office/drawing/2014/main" id="{9FF3E775-C3E4-7E34-E55D-7D5B55A049F6}"/>
              </a:ext>
            </a:extLst>
          </p:cNvPr>
          <p:cNvSpPr/>
          <p:nvPr/>
        </p:nvSpPr>
        <p:spPr>
          <a:xfrm>
            <a:off x="6201832" y="1862665"/>
            <a:ext cx="4042832" cy="1090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8" name="Prostokąt 47">
            <a:extLst>
              <a:ext uri="{FF2B5EF4-FFF2-40B4-BE49-F238E27FC236}">
                <a16:creationId xmlns:a16="http://schemas.microsoft.com/office/drawing/2014/main" id="{8282A2B2-7860-FA62-1BD3-A12B73C4FBAE}"/>
              </a:ext>
            </a:extLst>
          </p:cNvPr>
          <p:cNvSpPr/>
          <p:nvPr/>
        </p:nvSpPr>
        <p:spPr>
          <a:xfrm>
            <a:off x="317498" y="4614331"/>
            <a:ext cx="4159248" cy="1090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593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9B68382A-D1D0-B377-0EE5-D24BBB2E7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47"/>
          <a:stretch>
            <a:fillRect/>
          </a:stretch>
        </p:blipFill>
        <p:spPr>
          <a:xfrm>
            <a:off x="283049" y="174181"/>
            <a:ext cx="11625922" cy="65096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30DAB6-08E4-4062-316D-D4A7EDE8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10/11/2025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550AE03-9D5C-AD27-9C2A-1BA96803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E74D64-85E4-04E3-01D5-2338B8A5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rójkąt prostokątny 7">
            <a:extLst>
              <a:ext uri="{FF2B5EF4-FFF2-40B4-BE49-F238E27FC236}">
                <a16:creationId xmlns:a16="http://schemas.microsoft.com/office/drawing/2014/main" id="{446BDEBD-F010-E958-9B01-35BE92A5229E}"/>
              </a:ext>
            </a:extLst>
          </p:cNvPr>
          <p:cNvSpPr/>
          <p:nvPr/>
        </p:nvSpPr>
        <p:spPr>
          <a:xfrm rot="8280000">
            <a:off x="408405" y="203120"/>
            <a:ext cx="664020" cy="239849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5A4F2CE0-B68E-B3F1-8513-3875073D430E}"/>
              </a:ext>
            </a:extLst>
          </p:cNvPr>
          <p:cNvSpPr/>
          <p:nvPr/>
        </p:nvSpPr>
        <p:spPr>
          <a:xfrm>
            <a:off x="341352" y="156453"/>
            <a:ext cx="398245" cy="128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988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DA33911-A8E1-2D56-97AA-E926D1AA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4767" y="553440"/>
            <a:ext cx="6177990" cy="2868608"/>
          </a:xfrm>
        </p:spPr>
        <p:txBody>
          <a:bodyPr anchor="t">
            <a:normAutofit/>
          </a:bodyPr>
          <a:lstStyle/>
          <a:p>
            <a:pPr algn="ctr"/>
            <a:r>
              <a:rPr lang="pl-PL" sz="3300">
                <a:ea typeface="+mj-lt"/>
                <a:cs typeface="+mj-lt"/>
              </a:rPr>
              <a:t>Od sikacza do szampana</a:t>
            </a:r>
            <a:br>
              <a:rPr lang="pl-PL" sz="3300">
                <a:ea typeface="+mj-lt"/>
                <a:cs typeface="+mj-lt"/>
              </a:rPr>
            </a:br>
            <a:r>
              <a:rPr lang="pl-PL" sz="3300">
                <a:ea typeface="+mj-lt"/>
                <a:cs typeface="+mj-lt"/>
              </a:rPr>
              <a:t>rozkład jakości</a:t>
            </a:r>
            <a:r>
              <a:rPr lang="pl-PL" sz="3300" b="0">
                <a:ea typeface="+mj-lt"/>
                <a:cs typeface="+mj-lt"/>
              </a:rPr>
              <a:t> </a:t>
            </a:r>
            <a:br>
              <a:rPr lang="pl-PL" sz="3300" b="0">
                <a:ea typeface="+mj-lt"/>
                <a:cs typeface="+mj-lt"/>
              </a:rPr>
            </a:br>
            <a:r>
              <a:rPr lang="pl-PL" sz="3300" b="0">
                <a:ea typeface="+mj-lt"/>
                <a:cs typeface="+mj-lt"/>
              </a:rPr>
              <a:t>🤢 ➡ 🥂</a:t>
            </a:r>
            <a:endParaRPr lang="pl-PL" sz="330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E1BC78-4684-2E95-FD00-EDB0D8A5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FFD2A8-D815-B83E-214C-84A171270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414" y="2714275"/>
            <a:ext cx="4256263" cy="432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000"/>
              <a:t>Skala od 3 do 9</a:t>
            </a:r>
          </a:p>
          <a:p>
            <a:r>
              <a:rPr lang="pl-PL" sz="2000"/>
              <a:t>Dane niezbalansowane - znacząca przewaga win średnich - 6</a:t>
            </a:r>
          </a:p>
          <a:p>
            <a:r>
              <a:rPr lang="pl-PL" sz="2000"/>
              <a:t>Rozkład zbliżony do rozkładu normalnego – lekko skośny w prawo</a:t>
            </a:r>
          </a:p>
          <a:p>
            <a:endParaRPr lang="pl-PL"/>
          </a:p>
        </p:txBody>
      </p:sp>
      <p:pic>
        <p:nvPicPr>
          <p:cNvPr id="8" name="Symbol zastępczy zawartości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BAF61815-8EDE-CF45-71E5-B885A389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93" y="685447"/>
            <a:ext cx="6980023" cy="5502006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997F66-9481-F09C-8426-B59176D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ABFF2B-3573-A13E-859F-4D8B970F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66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2F2A31-C129-2298-9973-26A0E0FAA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285644-E50C-FE86-BEBF-B4CD3855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17" y="484765"/>
            <a:ext cx="6518472" cy="1822525"/>
          </a:xfrm>
        </p:spPr>
        <p:txBody>
          <a:bodyPr anchor="t">
            <a:normAutofit/>
          </a:bodyPr>
          <a:lstStyle/>
          <a:p>
            <a:pPr algn="ctr"/>
            <a:r>
              <a:rPr lang="pl-PL" sz="4100">
                <a:ea typeface="+mj-lt"/>
                <a:cs typeface="+mj-lt"/>
              </a:rPr>
              <a:t>Algorytm na odwyku od średnich klas⚖️</a:t>
            </a:r>
            <a:endParaRPr lang="pl-PL" sz="410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1F5BC7-8A44-9AB8-6325-3BCDC1E7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10/11/2025</a:t>
            </a:fld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731346-8C87-5966-B5EF-6A4470FFC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50" y="2419880"/>
            <a:ext cx="5548028" cy="35478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 sz="2000">
                <a:ea typeface="+mn-lt"/>
                <a:cs typeface="+mn-lt"/>
              </a:rPr>
              <a:t>Dobór </a:t>
            </a:r>
            <a:r>
              <a:rPr lang="pl-PL" sz="2000" err="1">
                <a:ea typeface="+mn-lt"/>
                <a:cs typeface="+mn-lt"/>
              </a:rPr>
              <a:t>scoringu</a:t>
            </a:r>
            <a:r>
              <a:rPr lang="pl-PL" sz="2000">
                <a:ea typeface="+mn-lt"/>
                <a:cs typeface="+mn-lt"/>
              </a:rPr>
              <a:t>: F1-macro </a:t>
            </a:r>
          </a:p>
          <a:p>
            <a:r>
              <a:rPr lang="pl-PL" sz="2000">
                <a:ea typeface="+mn-lt"/>
                <a:cs typeface="+mn-lt"/>
              </a:rPr>
              <a:t>Strojenie </a:t>
            </a:r>
            <a:r>
              <a:rPr lang="pl-PL" sz="2000" err="1">
                <a:ea typeface="+mn-lt"/>
                <a:cs typeface="+mn-lt"/>
              </a:rPr>
              <a:t>hiperparametrów</a:t>
            </a:r>
            <a:endParaRPr lang="pl-PL" sz="2000">
              <a:ea typeface="+mn-lt"/>
              <a:cs typeface="+mn-lt"/>
            </a:endParaRPr>
          </a:p>
          <a:p>
            <a:r>
              <a:rPr lang="pl-PL" sz="2000">
                <a:ea typeface="+mn-lt"/>
                <a:cs typeface="+mn-lt"/>
              </a:rPr>
              <a:t>Ważenie klas – większa waga dla rzadkich ocen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Redukcja liczby klas (scalenie skrajnych)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SMOTE</a:t>
            </a:r>
          </a:p>
          <a:p>
            <a:endParaRPr lang="pl-PL"/>
          </a:p>
        </p:txBody>
      </p:sp>
      <p:pic>
        <p:nvPicPr>
          <p:cNvPr id="7" name="Obraz 6" descr="Obraz zawierający wino, napój, Naczynia szklane, Kieliszek na wino&#10;&#10;Zawartość wygenerowana przez AI może być niepoprawna.">
            <a:extLst>
              <a:ext uri="{FF2B5EF4-FFF2-40B4-BE49-F238E27FC236}">
                <a16:creationId xmlns:a16="http://schemas.microsoft.com/office/drawing/2014/main" id="{02A498F7-2AD4-69AC-7F64-FB36C8A7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67" r="2" b="2"/>
          <a:stretch>
            <a:fillRect/>
          </a:stretch>
        </p:blipFill>
        <p:spPr>
          <a:xfrm>
            <a:off x="7156290" y="78539"/>
            <a:ext cx="4963886" cy="6700922"/>
          </a:xfrm>
          <a:custGeom>
            <a:avLst/>
            <a:gdLst/>
            <a:ahLst/>
            <a:cxnLst/>
            <a:rect l="l" t="t" r="r" b="b"/>
            <a:pathLst>
              <a:path w="4963886" h="6700922">
                <a:moveTo>
                  <a:pt x="678017" y="0"/>
                </a:moveTo>
                <a:lnTo>
                  <a:pt x="4285869" y="0"/>
                </a:lnTo>
                <a:cubicBezTo>
                  <a:pt x="4660327" y="0"/>
                  <a:pt x="4963886" y="303559"/>
                  <a:pt x="4963886" y="678017"/>
                </a:cubicBezTo>
                <a:lnTo>
                  <a:pt x="4963886" y="6022905"/>
                </a:lnTo>
                <a:cubicBezTo>
                  <a:pt x="4963886" y="6397363"/>
                  <a:pt x="4660327" y="6700922"/>
                  <a:pt x="4285869" y="6700922"/>
                </a:cubicBezTo>
                <a:lnTo>
                  <a:pt x="678017" y="6700922"/>
                </a:lnTo>
                <a:cubicBezTo>
                  <a:pt x="303559" y="6700922"/>
                  <a:pt x="0" y="6397363"/>
                  <a:pt x="0" y="6022905"/>
                </a:cubicBezTo>
                <a:lnTo>
                  <a:pt x="0" y="678017"/>
                </a:lnTo>
                <a:cubicBezTo>
                  <a:pt x="0" y="303559"/>
                  <a:pt x="303559" y="0"/>
                  <a:pt x="678017" y="0"/>
                </a:cubicBezTo>
                <a:close/>
              </a:path>
            </a:pathLst>
          </a:cu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3F48D9D-3FDE-046D-1737-4FE9707B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5D90B0D-C817-92D6-EA73-91CD3087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104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1CA28D-DA9F-BE33-7EAE-3CAFE7D2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0F230E2-EC40-4750-3186-FD9F583A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1C1EA7-3D58-86BF-C31D-CCB6AC2A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13</a:t>
            </a:fld>
            <a:endParaRPr lang="en-US"/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923D5077-CFE3-3D08-5233-D6D9B3DE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89" y="214118"/>
            <a:ext cx="10816718" cy="792895"/>
          </a:xfrm>
        </p:spPr>
        <p:txBody>
          <a:bodyPr>
            <a:normAutofit/>
          </a:bodyPr>
          <a:lstStyle/>
          <a:p>
            <a:r>
              <a:rPr lang="pl-PL" sz="4000" err="1"/>
              <a:t>XGBoost</a:t>
            </a:r>
            <a:r>
              <a:rPr lang="pl-PL" sz="4000"/>
              <a:t> SMOTE- raport klasyfikacji</a:t>
            </a:r>
            <a:r>
              <a:rPr lang="pl-PL" sz="4000" b="0">
                <a:ea typeface="+mj-lt"/>
                <a:cs typeface="+mj-lt"/>
              </a:rPr>
              <a:t>📊 </a:t>
            </a:r>
            <a:endParaRPr lang="pl-PL" err="1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6D59461-0322-94E9-3F29-DC667658AF9B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55A91E1E-AFFA-27AC-378A-81046A60C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878" y="1235017"/>
            <a:ext cx="6330244" cy="5037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01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11801CB9-C6C3-5893-74CA-B9659EAF6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17" y="3469569"/>
            <a:ext cx="3737329" cy="3390192"/>
          </a:xfrm>
          <a:prstGeom prst="rect">
            <a:avLst/>
          </a:prstGeom>
          <a:ln w="57150">
            <a:noFill/>
          </a:ln>
        </p:spPr>
      </p:pic>
      <p:pic>
        <p:nvPicPr>
          <p:cNvPr id="10" name="Symbol zastępczy zawartości 7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A2F98B8B-2D41-E2F7-BCAA-89620DE52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484" y="3463400"/>
            <a:ext cx="3613925" cy="3393946"/>
          </a:xfrm>
          <a:prstGeom prst="rect">
            <a:avLst/>
          </a:prstGeom>
          <a:solidFill>
            <a:srgbClr val="FFFFFF"/>
          </a:solidFill>
          <a:ln w="57150"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Symbol zastępczy zawartości 8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82B07302-C997-16FF-A69B-B1A4B9FDA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110" y="1474"/>
            <a:ext cx="3594701" cy="3357951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E9E4BC-5E9F-F7A1-5F05-FF197BAF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08034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10/11/2025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E02E20-DC44-473B-5932-55A98C55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94EFDF7-84DE-A382-C881-EA1319912068}"/>
              </a:ext>
            </a:extLst>
          </p:cNvPr>
          <p:cNvSpPr txBox="1"/>
          <p:nvPr/>
        </p:nvSpPr>
        <p:spPr>
          <a:xfrm>
            <a:off x="7596818" y="72739"/>
            <a:ext cx="2763594" cy="2864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 err="1">
                <a:solidFill>
                  <a:schemeClr val="bg1"/>
                </a:solidFill>
              </a:rPr>
              <a:t>Random</a:t>
            </a:r>
            <a:r>
              <a:rPr lang="pl-PL" sz="1200">
                <a:solidFill>
                  <a:schemeClr val="bg1"/>
                </a:solidFill>
              </a:rPr>
              <a:t> </a:t>
            </a:r>
            <a:r>
              <a:rPr lang="pl-PL" sz="1200" err="1">
                <a:solidFill>
                  <a:schemeClr val="bg1"/>
                </a:solidFill>
              </a:rPr>
              <a:t>Forest</a:t>
            </a:r>
            <a:r>
              <a:rPr lang="pl-PL" sz="1200">
                <a:solidFill>
                  <a:schemeClr val="bg1"/>
                </a:solidFill>
              </a:rPr>
              <a:t>, </a:t>
            </a:r>
            <a:r>
              <a:rPr lang="pl-PL" sz="1200" err="1">
                <a:solidFill>
                  <a:schemeClr val="bg1"/>
                </a:solidFill>
              </a:rPr>
              <a:t>scoring</a:t>
            </a:r>
            <a:r>
              <a:rPr lang="pl-PL" sz="1200">
                <a:solidFill>
                  <a:schemeClr val="bg1"/>
                </a:solidFill>
              </a:rPr>
              <a:t> = f1_macro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165E0EB-6775-9782-E335-8A148A8BDFDF}"/>
              </a:ext>
            </a:extLst>
          </p:cNvPr>
          <p:cNvSpPr txBox="1"/>
          <p:nvPr/>
        </p:nvSpPr>
        <p:spPr>
          <a:xfrm>
            <a:off x="1802293" y="3461663"/>
            <a:ext cx="2218963" cy="292388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300" err="1">
                <a:solidFill>
                  <a:srgbClr val="000000"/>
                </a:solidFill>
              </a:rPr>
              <a:t>XGBoost</a:t>
            </a:r>
            <a:r>
              <a:rPr lang="pl-PL" sz="1300">
                <a:solidFill>
                  <a:srgbClr val="000000"/>
                </a:solidFill>
              </a:rPr>
              <a:t> - ważenie klas</a:t>
            </a:r>
            <a:endParaRPr lang="pl-PL" sz="130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9D21F8E-FB82-0B2B-0EA4-C5784E96DC1A}"/>
              </a:ext>
            </a:extLst>
          </p:cNvPr>
          <p:cNvSpPr txBox="1"/>
          <p:nvPr/>
        </p:nvSpPr>
        <p:spPr>
          <a:xfrm>
            <a:off x="7836121" y="3506655"/>
            <a:ext cx="2638615" cy="292388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300" err="1">
                <a:solidFill>
                  <a:srgbClr val="000000"/>
                </a:solidFill>
              </a:rPr>
              <a:t>XGBoost</a:t>
            </a:r>
            <a:r>
              <a:rPr lang="pl-PL" sz="1300">
                <a:solidFill>
                  <a:srgbClr val="000000"/>
                </a:solidFill>
              </a:rPr>
              <a:t>,  </a:t>
            </a:r>
            <a:r>
              <a:rPr lang="pl-PL" sz="1300" err="1">
                <a:solidFill>
                  <a:srgbClr val="000000"/>
                </a:solidFill>
              </a:rPr>
              <a:t>scoring</a:t>
            </a:r>
            <a:r>
              <a:rPr lang="pl-PL" sz="1300">
                <a:solidFill>
                  <a:srgbClr val="000000"/>
                </a:solidFill>
              </a:rPr>
              <a:t> = f1_macro</a:t>
            </a:r>
            <a:endParaRPr lang="pl-PL" sz="1300"/>
          </a:p>
        </p:txBody>
      </p:sp>
      <p:sp>
        <p:nvSpPr>
          <p:cNvPr id="16" name="Symbol zastępczy stopki 15">
            <a:extLst>
              <a:ext uri="{FF2B5EF4-FFF2-40B4-BE49-F238E27FC236}">
                <a16:creationId xmlns:a16="http://schemas.microsoft.com/office/drawing/2014/main" id="{BE4E9A4C-9A29-019B-6CBE-BBC0B4E0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4D45FB0-F9A8-7136-5857-6523D6169FEB}"/>
              </a:ext>
            </a:extLst>
          </p:cNvPr>
          <p:cNvSpPr txBox="1"/>
          <p:nvPr/>
        </p:nvSpPr>
        <p:spPr>
          <a:xfrm>
            <a:off x="4783434" y="927390"/>
            <a:ext cx="114553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6000">
                <a:ea typeface="+mn-lt"/>
                <a:cs typeface="+mn-lt"/>
              </a:rPr>
              <a:t>🏆</a:t>
            </a:r>
            <a:endParaRPr lang="pl-PL" sz="600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9DED24B-606A-46A2-D82E-EC5B497EC8E5}"/>
              </a:ext>
            </a:extLst>
          </p:cNvPr>
          <p:cNvSpPr txBox="1"/>
          <p:nvPr/>
        </p:nvSpPr>
        <p:spPr>
          <a:xfrm>
            <a:off x="-189554" y="924803"/>
            <a:ext cx="8142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6000">
                <a:ea typeface="+mn-lt"/>
                <a:cs typeface="+mn-lt"/>
              </a:rPr>
              <a:t>🍷</a:t>
            </a:r>
            <a:endParaRPr lang="pl-PL" sz="6000"/>
          </a:p>
        </p:txBody>
      </p:sp>
      <p:pic>
        <p:nvPicPr>
          <p:cNvPr id="11" name="Obraz 10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A0192DB2-FB79-21C6-4ADC-C4D527710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409" y="3657"/>
            <a:ext cx="3756734" cy="3413303"/>
          </a:xfrm>
          <a:prstGeom prst="rect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AB2FD3B8-DB50-5C8C-76F6-A892961B3CC0}"/>
              </a:ext>
            </a:extLst>
          </p:cNvPr>
          <p:cNvSpPr txBox="1"/>
          <p:nvPr/>
        </p:nvSpPr>
        <p:spPr>
          <a:xfrm>
            <a:off x="1924588" y="5463"/>
            <a:ext cx="1822216" cy="292388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300" err="1">
                <a:solidFill>
                  <a:srgbClr val="000000"/>
                </a:solidFill>
              </a:rPr>
              <a:t>XGBoost</a:t>
            </a:r>
            <a:r>
              <a:rPr lang="pl-PL" sz="1300">
                <a:solidFill>
                  <a:srgbClr val="000000"/>
                </a:solidFill>
              </a:rPr>
              <a:t> - SMOTE</a:t>
            </a:r>
            <a:endParaRPr lang="pl-PL" sz="1300"/>
          </a:p>
        </p:txBody>
      </p:sp>
    </p:spTree>
    <p:extLst>
      <p:ext uri="{BB962C8B-B14F-4D97-AF65-F5344CB8AC3E}">
        <p14:creationId xmlns:p14="http://schemas.microsoft.com/office/powerpoint/2010/main" val="8613789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3396A8-9125-4E23-68FA-22C6AAFE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972" y="207091"/>
            <a:ext cx="9668197" cy="792895"/>
          </a:xfrm>
        </p:spPr>
        <p:txBody>
          <a:bodyPr>
            <a:normAutofit/>
          </a:bodyPr>
          <a:lstStyle/>
          <a:p>
            <a:r>
              <a:rPr lang="pl-PL" sz="4000" err="1"/>
              <a:t>XGBoost</a:t>
            </a:r>
            <a:r>
              <a:rPr lang="pl-PL" sz="4000"/>
              <a:t> ważenie klas - ważność cech</a:t>
            </a:r>
            <a:endParaRPr lang="pl-PL" err="1"/>
          </a:p>
        </p:txBody>
      </p:sp>
      <p:pic>
        <p:nvPicPr>
          <p:cNvPr id="7" name="Symbol zastępczy zawartości 6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3C296D9C-7CA2-E618-12BA-5B725A879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3916" y="1187532"/>
            <a:ext cx="9255184" cy="5428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65A85B8-7DDC-888E-9401-34DA95A1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E3D969-A6AC-FCE4-114F-10FBD35B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F30BE86-C291-4A9C-871D-9B8424D0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15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9B052F02-24D0-7521-AF3B-37DD7296FBAE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02844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A0BC5-61F3-B712-761D-B4A78208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724060E5-BA89-DD1D-4406-2DD9FDF7F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76FDA9FE-819F-77A0-9607-3AC433E5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58" y="5265412"/>
            <a:ext cx="6816312" cy="13370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Aplikacja</a:t>
            </a:r>
          </a:p>
        </p:txBody>
      </p:sp>
      <p:pic>
        <p:nvPicPr>
          <p:cNvPr id="2" name="Obraz 1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E04E019E-FE27-A1DC-9B22-E691EEA7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26"/>
          <a:stretch>
            <a:fillRect/>
          </a:stretch>
        </p:blipFill>
        <p:spPr>
          <a:xfrm>
            <a:off x="20" y="10"/>
            <a:ext cx="12191979" cy="5143490"/>
          </a:xfrm>
          <a:custGeom>
            <a:avLst/>
            <a:gdLst/>
            <a:ahLst/>
            <a:cxnLst/>
            <a:rect l="l" t="t" r="r" b="b"/>
            <a:pathLst>
              <a:path w="12191999" h="5143500">
                <a:moveTo>
                  <a:pt x="0" y="0"/>
                </a:moveTo>
                <a:lnTo>
                  <a:pt x="12191999" y="0"/>
                </a:lnTo>
                <a:lnTo>
                  <a:pt x="12191999" y="4503161"/>
                </a:lnTo>
                <a:lnTo>
                  <a:pt x="12178990" y="4632203"/>
                </a:lnTo>
                <a:cubicBezTo>
                  <a:pt x="12119280" y="4924000"/>
                  <a:pt x="11861099" y="5143500"/>
                  <a:pt x="11551650" y="5143500"/>
                </a:cubicBezTo>
                <a:lnTo>
                  <a:pt x="640350" y="5143500"/>
                </a:lnTo>
                <a:cubicBezTo>
                  <a:pt x="286694" y="5143500"/>
                  <a:pt x="0" y="4856806"/>
                  <a:pt x="0" y="4503150"/>
                </a:cubicBezTo>
                <a:close/>
              </a:path>
            </a:pathLst>
          </a:custGeom>
        </p:spPr>
      </p:pic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31CCB4-0728-F261-0BD3-F780DCA9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10/11/2025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F06CBA-FA4C-0961-351D-D7FE0DF3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09D6EA-3FA7-FBF3-DA7E-7F84A069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F565126A-DFA6-A2AE-CAF5-22B93E0A3C2E}"/>
              </a:ext>
            </a:extLst>
          </p:cNvPr>
          <p:cNvSpPr/>
          <p:nvPr/>
        </p:nvSpPr>
        <p:spPr>
          <a:xfrm>
            <a:off x="3717690" y="6003649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21105C5-BA72-2AF7-584B-99A13634A62C}"/>
              </a:ext>
            </a:extLst>
          </p:cNvPr>
          <p:cNvSpPr txBox="1"/>
          <p:nvPr/>
        </p:nvSpPr>
        <p:spPr>
          <a:xfrm>
            <a:off x="8272607" y="5752875"/>
            <a:ext cx="36809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ea typeface="+mn-lt"/>
                <a:cs typeface="+mn-lt"/>
                <a:hlinkClick r:id="rId3"/>
              </a:rPr>
              <a:t>http://127.0.0.1:8080/</a:t>
            </a:r>
            <a:r>
              <a:rPr lang="pl-PL">
                <a:ea typeface="+mn-lt"/>
                <a:cs typeface="+mn-lt"/>
              </a:rPr>
              <a:t> </a:t>
            </a:r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681FDAB-D4EA-03E7-2ED9-A0631FA35355}"/>
              </a:ext>
            </a:extLst>
          </p:cNvPr>
          <p:cNvSpPr txBox="1"/>
          <p:nvPr/>
        </p:nvSpPr>
        <p:spPr>
          <a:xfrm>
            <a:off x="7651905" y="5617085"/>
            <a:ext cx="8525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600">
                <a:ea typeface="+mn-lt"/>
                <a:cs typeface="+mn-lt"/>
              </a:rPr>
              <a:t>➡</a:t>
            </a:r>
            <a:endParaRPr lang="pl-PL" sz="3600"/>
          </a:p>
        </p:txBody>
      </p:sp>
    </p:spTree>
    <p:extLst>
      <p:ext uri="{BB962C8B-B14F-4D97-AF65-F5344CB8AC3E}">
        <p14:creationId xmlns:p14="http://schemas.microsoft.com/office/powerpoint/2010/main" val="3935728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7C0780-58FC-D34E-FBE2-5D3A70AB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09" y="356795"/>
            <a:ext cx="9956747" cy="874336"/>
          </a:xfrm>
        </p:spPr>
        <p:txBody>
          <a:bodyPr/>
          <a:lstStyle/>
          <a:p>
            <a:r>
              <a:rPr lang="pl-PL" b="0">
                <a:ea typeface="+mj-lt"/>
                <a:cs typeface="+mj-lt"/>
              </a:rPr>
              <a:t>🧭</a:t>
            </a:r>
            <a:r>
              <a:rPr lang="pl-PL"/>
              <a:t>Quo vadis, aplikacjo?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54130A-D3C0-4A20-2BB4-5136800CE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000" dirty="0"/>
              <a:t>🍇Dodanie innych czynników mających wpływ na jakość</a:t>
            </a:r>
            <a:endParaRPr lang="pl-PL" dirty="0"/>
          </a:p>
          <a:p>
            <a:pPr marL="0" indent="0">
              <a:buNone/>
            </a:pPr>
            <a:r>
              <a:rPr lang="pl-PL" sz="2000" dirty="0"/>
              <a:t> wina np. metody produkcji </a:t>
            </a:r>
            <a:endParaRPr lang="pl-PL" dirty="0"/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🧠</a:t>
            </a:r>
            <a:r>
              <a:rPr lang="pl-PL" sz="2000" dirty="0"/>
              <a:t>Zwiększenie ilość danych treningowych</a:t>
            </a:r>
            <a:endParaRPr lang="pl-PL" dirty="0"/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⚖️️</a:t>
            </a:r>
            <a:r>
              <a:rPr lang="pl-PL" sz="2000" dirty="0" err="1">
                <a:ea typeface="+mn-lt"/>
                <a:cs typeface="+mn-lt"/>
              </a:rPr>
              <a:t>Benchmarking</a:t>
            </a:r>
            <a:r>
              <a:rPr lang="pl-PL" sz="2000" dirty="0"/>
              <a:t> - nazwy, ceny i koszty ocenianych win </a:t>
            </a:r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🌍</a:t>
            </a:r>
            <a:r>
              <a:rPr lang="pl-PL" sz="2000" dirty="0"/>
              <a:t>Potencjalne rynki zbytu </a:t>
            </a:r>
            <a:endParaRPr lang="pl-PL" dirty="0"/>
          </a:p>
          <a:p>
            <a:pPr marL="0" indent="0">
              <a:buNone/>
            </a:pPr>
            <a:r>
              <a:rPr lang="pl-PL" sz="2000" dirty="0">
                <a:ea typeface="+mn-lt"/>
                <a:cs typeface="+mn-lt"/>
              </a:rPr>
              <a:t>🎨</a:t>
            </a:r>
            <a:r>
              <a:rPr lang="pl-PL" sz="2000" dirty="0"/>
              <a:t>Poprawa UX</a:t>
            </a:r>
          </a:p>
          <a:p>
            <a:endParaRPr lang="pl-PL"/>
          </a:p>
          <a:p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8E34EE-BA5B-F7BE-325F-F6C884E4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31C615-7408-E447-7634-C264AA29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Słudzy Bachusa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FD127F-793F-02AB-CD7C-58D0996F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17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AAA2089F-7874-22BC-22FE-30856B3CFBA3}"/>
              </a:ext>
            </a:extLst>
          </p:cNvPr>
          <p:cNvSpPr/>
          <p:nvPr/>
        </p:nvSpPr>
        <p:spPr>
          <a:xfrm>
            <a:off x="230963" y="57740"/>
            <a:ext cx="923855" cy="303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 descr="Obraz zawierający pojemnik, szkło/szklanka, Kieliszek na wino, wino&#10;&#10;Zawartość wygenerowana przez AI może być niepoprawna.">
            <a:extLst>
              <a:ext uri="{FF2B5EF4-FFF2-40B4-BE49-F238E27FC236}">
                <a16:creationId xmlns:a16="http://schemas.microsoft.com/office/drawing/2014/main" id="{7E2079D7-0901-A9AC-C07E-3395993CD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023" y="0"/>
            <a:ext cx="4472940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1887340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17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18" baseType="lpstr">
      <vt:lpstr>DylanVTI</vt:lpstr>
      <vt:lpstr>Aplikacja do przewidywania jakości win </vt:lpstr>
      <vt:lpstr>📜Krótka historia wina</vt:lpstr>
      <vt:lpstr>🍷 Bachus – patron wina, zabawy i... analizy sensorycznej?</vt:lpstr>
      <vt:lpstr>Słudzy Bachusa </vt:lpstr>
      <vt:lpstr>Produkcja i konsumpcja wina 2024</vt:lpstr>
      <vt:lpstr>🍷 Jak na tym zarobić, zanim wszystko wypijemy?</vt:lpstr>
      <vt:lpstr>🧩Dane wejściowe</vt:lpstr>
      <vt:lpstr>   Chemia między danymi ⚗️✨  </vt:lpstr>
      <vt:lpstr>Prezentacja programu PowerPoint</vt:lpstr>
      <vt:lpstr>Prezentacja programu PowerPoint</vt:lpstr>
      <vt:lpstr>Od sikacza do szampana rozkład jakości  🤢 ➡ 🥂</vt:lpstr>
      <vt:lpstr>Algorytm na odwyku od średnich klas⚖️</vt:lpstr>
      <vt:lpstr>XGBoost SMOTE- raport klasyfikacji📊 </vt:lpstr>
      <vt:lpstr>Prezentacja programu PowerPoint</vt:lpstr>
      <vt:lpstr>XGBoost ważenie klas - ważność cech</vt:lpstr>
      <vt:lpstr>Aplikacja</vt:lpstr>
      <vt:lpstr>🧭Quo vadis, aplikacjo?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123</cp:revision>
  <dcterms:created xsi:type="dcterms:W3CDTF">2025-09-21T17:34:04Z</dcterms:created>
  <dcterms:modified xsi:type="dcterms:W3CDTF">2025-10-11T18:15:41Z</dcterms:modified>
</cp:coreProperties>
</file>